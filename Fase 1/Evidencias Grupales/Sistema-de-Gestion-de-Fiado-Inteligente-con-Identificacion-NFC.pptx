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72" r:id="rId14"/>
    <p:sldId id="268" r:id="rId15"/>
    <p:sldId id="267" r:id="rId16"/>
    <p:sldId id="269" r:id="rId17"/>
  </p:sldIdLst>
  <p:sldSz cx="12192000" cy="6858000"/>
  <p:notesSz cx="6858000" cy="12192000"/>
  <p:embeddedFontLst>
    <p:embeddedFont>
      <p:font typeface="Raleway" pitchFamily="2" charset="0"/>
      <p:regular r:id="rId19"/>
    </p:embeddedFont>
    <p:embeddedFont>
      <p:font typeface="Raleway Light" pitchFamily="2" charset="0"/>
      <p:regular r:id="rId20"/>
      <p:italic r:id="rId21"/>
    </p:embeddedFont>
    <p:embeddedFont>
      <p:font typeface="Roboto" panose="02000000000000000000" pitchFamily="2" charset="0"/>
      <p:regular r:id="rId22"/>
      <p:bold r:id="rId23"/>
    </p:embeddedFont>
    <p:embeddedFont>
      <p:font typeface="Roboto Bold" panose="02000000000000000000" charset="0"/>
      <p:regular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8934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CECF3"/>
          </a:solidFill>
          <a:ln/>
        </p:spPr>
      </p:sp>
      <p:sp>
        <p:nvSpPr>
          <p:cNvPr id="3" name="Shape 1"/>
          <p:cNvSpPr/>
          <p:nvPr/>
        </p:nvSpPr>
        <p:spPr>
          <a:xfrm>
            <a:off x="0" y="0"/>
            <a:ext cx="12191695" cy="68580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7.svg"/></Relationships>
</file>

<file path=ppt/slides/_rels/slide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 Id="rId9"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7.sv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7.svg"/><Relationship Id="rId11" Type="http://schemas.openxmlformats.org/officeDocument/2006/relationships/image" Target="../media/image4.pn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s>
</file>

<file path=ppt/slides/_rels/slide15.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 Id="rId9"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507405"/>
            <a:ext cx="10868745" cy="1001316"/>
          </a:xfrm>
          <a:prstGeom prst="rect">
            <a:avLst/>
          </a:prstGeom>
          <a:noFill/>
          <a:ln/>
        </p:spPr>
        <p:txBody>
          <a:bodyPr wrap="square" lIns="0" tIns="0" rIns="0" bIns="0" rtlCol="0" anchor="t">
            <a:normAutofit/>
          </a:bodyPr>
          <a:lstStyle/>
          <a:p>
            <a:pPr marL="0" indent="0" algn="l">
              <a:lnSpc>
                <a:spcPct val="104000"/>
              </a:lnSpc>
              <a:buNone/>
            </a:pPr>
            <a:r>
              <a:rPr lang="en-US" sz="3150" dirty="0">
                <a:solidFill>
                  <a:srgbClr val="1B1B27"/>
                </a:solidFill>
                <a:latin typeface="Raleway" pitchFamily="34" charset="0"/>
                <a:ea typeface="Raleway" pitchFamily="34" charset="-122"/>
                <a:cs typeface="Raleway" pitchFamily="34" charset="-120"/>
              </a:rPr>
              <a:t>Sistema de Gestión de Fiado Inteligente con Identificación NFC</a:t>
            </a:r>
            <a:endParaRPr lang="en-US" sz="3150" dirty="0"/>
          </a:p>
        </p:txBody>
      </p:sp>
      <p:sp>
        <p:nvSpPr>
          <p:cNvPr id="3" name="Shape 1"/>
          <p:cNvSpPr/>
          <p:nvPr/>
        </p:nvSpPr>
        <p:spPr>
          <a:xfrm>
            <a:off x="546086" y="2129039"/>
            <a:ext cx="2073818" cy="243384"/>
          </a:xfrm>
          <a:prstGeom prst="roundRect">
            <a:avLst>
              <a:gd name="adj" fmla="val 22119"/>
            </a:avLst>
          </a:prstGeom>
          <a:noFill/>
          <a:ln w="6350">
            <a:solidFill>
              <a:srgbClr val="1B1B27"/>
            </a:solidFill>
            <a:prstDash val="solid"/>
          </a:ln>
        </p:spPr>
      </p:sp>
      <p:sp>
        <p:nvSpPr>
          <p:cNvPr id="4" name="Text 2"/>
          <p:cNvSpPr/>
          <p:nvPr/>
        </p:nvSpPr>
        <p:spPr>
          <a:xfrm>
            <a:off x="661475" y="2177061"/>
            <a:ext cx="2491320" cy="147340"/>
          </a:xfrm>
          <a:prstGeom prst="rect">
            <a:avLst/>
          </a:prstGeom>
          <a:noFill/>
          <a:ln/>
        </p:spPr>
        <p:txBody>
          <a:bodyPr wrap="none" lIns="0" tIns="0" rIns="0" bIns="0" rtlCol="0" anchor="t"/>
          <a:lstStyle/>
          <a:p>
            <a:pPr marL="0" indent="0" algn="l">
              <a:lnSpc>
                <a:spcPct val="96000"/>
              </a:lnSpc>
              <a:buNone/>
            </a:pPr>
            <a:r>
              <a:rPr lang="en-US" sz="1000" dirty="0">
                <a:solidFill>
                  <a:srgbClr val="1B1B27"/>
                </a:solidFill>
                <a:latin typeface="Roboto" pitchFamily="34" charset="0"/>
                <a:ea typeface="Roboto" pitchFamily="34" charset="-122"/>
                <a:cs typeface="Roboto" pitchFamily="34" charset="-120"/>
              </a:rPr>
              <a:t>PROYECTO CAPSTONE — FASE 1</a:t>
            </a:r>
            <a:endParaRPr lang="en-US" sz="1000" dirty="0"/>
          </a:p>
        </p:txBody>
      </p:sp>
      <p:sp>
        <p:nvSpPr>
          <p:cNvPr id="5" name="Shape 3"/>
          <p:cNvSpPr/>
          <p:nvPr/>
        </p:nvSpPr>
        <p:spPr>
          <a:xfrm>
            <a:off x="385951" y="3248467"/>
            <a:ext cx="6595600" cy="1596231"/>
          </a:xfrm>
          <a:prstGeom prst="roundRect">
            <a:avLst>
              <a:gd name="adj" fmla="val 2804"/>
            </a:avLst>
          </a:prstGeom>
          <a:solidFill>
            <a:srgbClr val="1B1B27">
              <a:alpha val="95000"/>
            </a:srgbClr>
          </a:solidFill>
          <a:ln/>
        </p:spPr>
      </p:sp>
      <p:sp>
        <p:nvSpPr>
          <p:cNvPr id="6" name="Text 4"/>
          <p:cNvSpPr/>
          <p:nvPr/>
        </p:nvSpPr>
        <p:spPr>
          <a:xfrm>
            <a:off x="546086" y="3346002"/>
            <a:ext cx="6275330" cy="250329"/>
          </a:xfrm>
          <a:prstGeom prst="rect">
            <a:avLst/>
          </a:prstGeom>
          <a:noFill/>
          <a:ln/>
        </p:spPr>
        <p:txBody>
          <a:bodyPr wrap="none" lIns="0" tIns="0" rIns="0" bIns="0" rtlCol="0" anchor="t"/>
          <a:lstStyle/>
          <a:p>
            <a:pPr marL="0" indent="0" algn="l">
              <a:lnSpc>
                <a:spcPct val="104000"/>
              </a:lnSpc>
              <a:buNone/>
            </a:pPr>
            <a:r>
              <a:rPr lang="en-US" sz="1550" dirty="0">
                <a:solidFill>
                  <a:srgbClr val="FFFFFF"/>
                </a:solidFill>
                <a:latin typeface="Raleway" pitchFamily="34" charset="0"/>
                <a:ea typeface="Raleway" pitchFamily="34" charset="-122"/>
                <a:cs typeface="Raleway" pitchFamily="34" charset="-120"/>
              </a:rPr>
              <a:t>Descripción del Proyecto</a:t>
            </a:r>
            <a:endParaRPr lang="en-US" sz="1550" dirty="0"/>
          </a:p>
        </p:txBody>
      </p:sp>
      <p:sp>
        <p:nvSpPr>
          <p:cNvPr id="7" name="Text 5"/>
          <p:cNvSpPr/>
          <p:nvPr/>
        </p:nvSpPr>
        <p:spPr>
          <a:xfrm>
            <a:off x="655529" y="3728359"/>
            <a:ext cx="6275330" cy="75694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FFFFFF"/>
                </a:solidFill>
                <a:latin typeface="Roboto" pitchFamily="34" charset="0"/>
                <a:ea typeface="Roboto" pitchFamily="34" charset="-122"/>
                <a:cs typeface="Roboto" pitchFamily="34" charset="-120"/>
              </a:rPr>
              <a:t>Desarrollo de un sistema móvil </a:t>
            </a:r>
            <a:r>
              <a:rPr lang="en-US" sz="1250" b="1" dirty="0">
                <a:solidFill>
                  <a:srgbClr val="FFFFFF"/>
                </a:solidFill>
                <a:latin typeface="Roboto Bold" pitchFamily="34" charset="0"/>
                <a:ea typeface="Roboto Bold" pitchFamily="34" charset="-122"/>
                <a:cs typeface="Roboto Bold" pitchFamily="34" charset="-120"/>
              </a:rPr>
              <a:t>offline-first</a:t>
            </a:r>
            <a:r>
              <a:rPr lang="en-US" sz="1250" dirty="0">
                <a:solidFill>
                  <a:srgbClr val="FFFFFF"/>
                </a:solidFill>
                <a:latin typeface="Roboto" pitchFamily="34" charset="0"/>
                <a:ea typeface="Roboto" pitchFamily="34" charset="-122"/>
                <a:cs typeface="Roboto" pitchFamily="34" charset="-120"/>
              </a:rPr>
              <a:t> diseñado para digitalizar y automatizar el tradicional "cuaderno de fiados" utilizado en microempresas y botillerías, integrando tecnología NFC para autenticación rápida de clientes.</a:t>
            </a:r>
            <a:endParaRPr lang="en-US" sz="1250" dirty="0"/>
          </a:p>
        </p:txBody>
      </p:sp>
      <p:sp>
        <p:nvSpPr>
          <p:cNvPr id="8" name="Text 6"/>
          <p:cNvSpPr/>
          <p:nvPr/>
        </p:nvSpPr>
        <p:spPr>
          <a:xfrm>
            <a:off x="7423560" y="2392164"/>
            <a:ext cx="4112911" cy="250329"/>
          </a:xfrm>
          <a:prstGeom prst="rect">
            <a:avLst/>
          </a:prstGeom>
          <a:noFill/>
          <a:ln/>
        </p:spPr>
        <p:txBody>
          <a:bodyPr wrap="none" lIns="0" tIns="0" rIns="0" bIns="0" rtlCol="0" anchor="t"/>
          <a:lstStyle/>
          <a:p>
            <a:pPr marL="0" indent="0" algn="l">
              <a:lnSpc>
                <a:spcPct val="104000"/>
              </a:lnSpc>
              <a:buNone/>
            </a:pPr>
            <a:r>
              <a:rPr lang="en-US" sz="1550" dirty="0">
                <a:solidFill>
                  <a:srgbClr val="1B1B27"/>
                </a:solidFill>
                <a:latin typeface="Raleway" pitchFamily="34" charset="0"/>
                <a:ea typeface="Raleway" pitchFamily="34" charset="-122"/>
                <a:cs typeface="Raleway" pitchFamily="34" charset="-120"/>
              </a:rPr>
              <a:t>Equipo del Proyecto</a:t>
            </a:r>
            <a:endParaRPr lang="en-US" sz="1550" dirty="0"/>
          </a:p>
        </p:txBody>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23560" y="2817019"/>
            <a:ext cx="4112911" cy="1016198"/>
          </a:xfrm>
          <a:prstGeom prst="rect">
            <a:avLst/>
          </a:prstGeom>
        </p:spPr>
      </p:pic>
      <p:sp>
        <p:nvSpPr>
          <p:cNvPr id="10" name="Text 7"/>
          <p:cNvSpPr/>
          <p:nvPr/>
        </p:nvSpPr>
        <p:spPr>
          <a:xfrm>
            <a:off x="7678942" y="2996208"/>
            <a:ext cx="3678344" cy="250329"/>
          </a:xfrm>
          <a:prstGeom prst="rect">
            <a:avLst/>
          </a:prstGeom>
          <a:noFill/>
          <a:ln/>
        </p:spPr>
        <p:txBody>
          <a:bodyPr wrap="none" lIns="0" tIns="0" rIns="0" bIns="0" rtlCol="0" anchor="t"/>
          <a:lstStyle/>
          <a:p>
            <a:pPr marL="0" indent="0" algn="l">
              <a:lnSpc>
                <a:spcPct val="104000"/>
              </a:lnSpc>
              <a:buNone/>
            </a:pPr>
            <a:r>
              <a:rPr lang="en-US" sz="1550" dirty="0">
                <a:solidFill>
                  <a:srgbClr val="3C3939"/>
                </a:solidFill>
                <a:latin typeface="Raleway" pitchFamily="34" charset="0"/>
                <a:ea typeface="Raleway" pitchFamily="34" charset="-122"/>
                <a:cs typeface="Raleway" pitchFamily="34" charset="-120"/>
              </a:rPr>
              <a:t>Bastián Bustamante</a:t>
            </a:r>
            <a:endParaRPr lang="en-US" sz="1550" dirty="0"/>
          </a:p>
        </p:txBody>
      </p:sp>
      <p:sp>
        <p:nvSpPr>
          <p:cNvPr id="11" name="Text 8"/>
          <p:cNvSpPr/>
          <p:nvPr/>
        </p:nvSpPr>
        <p:spPr>
          <a:xfrm>
            <a:off x="7678942" y="3401715"/>
            <a:ext cx="3678344" cy="252313"/>
          </a:xfrm>
          <a:prstGeom prst="rect">
            <a:avLst/>
          </a:prstGeom>
          <a:noFill/>
          <a:ln/>
        </p:spPr>
        <p:txBody>
          <a:bodyPr wrap="none" lIns="0" tIns="0" rIns="0" bIns="0" rtlCol="0" anchor="t"/>
          <a:lstStyle/>
          <a:p>
            <a:pPr marL="0" indent="0" algn="l">
              <a:lnSpc>
                <a:spcPct val="131000"/>
              </a:lnSpc>
              <a:buNone/>
            </a:pPr>
            <a:r>
              <a:rPr lang="en-US" sz="1250" dirty="0">
                <a:solidFill>
                  <a:srgbClr val="3C3939"/>
                </a:solidFill>
                <a:latin typeface="Roboto" pitchFamily="34" charset="0"/>
                <a:ea typeface="Roboto" pitchFamily="34" charset="-122"/>
                <a:cs typeface="Roboto" pitchFamily="34" charset="-120"/>
              </a:rPr>
              <a:t>Líder Backend / DB</a:t>
            </a:r>
            <a:endParaRPr lang="en-US" sz="1250" dirty="0"/>
          </a:p>
        </p:txBody>
      </p:sp>
      <p:pic>
        <p:nvPicPr>
          <p:cNvPr id="12"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23560" y="3988395"/>
            <a:ext cx="4112911" cy="1016198"/>
          </a:xfrm>
          <a:prstGeom prst="rect">
            <a:avLst/>
          </a:prstGeom>
        </p:spPr>
      </p:pic>
      <p:sp>
        <p:nvSpPr>
          <p:cNvPr id="13" name="Text 9"/>
          <p:cNvSpPr/>
          <p:nvPr/>
        </p:nvSpPr>
        <p:spPr>
          <a:xfrm>
            <a:off x="7678942" y="4167584"/>
            <a:ext cx="3678344" cy="250329"/>
          </a:xfrm>
          <a:prstGeom prst="rect">
            <a:avLst/>
          </a:prstGeom>
          <a:noFill/>
          <a:ln/>
        </p:spPr>
        <p:txBody>
          <a:bodyPr wrap="none" lIns="0" tIns="0" rIns="0" bIns="0" rtlCol="0" anchor="t"/>
          <a:lstStyle/>
          <a:p>
            <a:pPr marL="0" indent="0" algn="l">
              <a:lnSpc>
                <a:spcPct val="104000"/>
              </a:lnSpc>
              <a:buNone/>
            </a:pPr>
            <a:r>
              <a:rPr lang="en-US" sz="1550" dirty="0">
                <a:solidFill>
                  <a:srgbClr val="3C3939"/>
                </a:solidFill>
                <a:latin typeface="Raleway" pitchFamily="34" charset="0"/>
                <a:ea typeface="Raleway" pitchFamily="34" charset="-122"/>
                <a:cs typeface="Raleway" pitchFamily="34" charset="-120"/>
              </a:rPr>
              <a:t>Felipe Olavarría</a:t>
            </a:r>
            <a:endParaRPr lang="en-US" sz="1550" dirty="0"/>
          </a:p>
        </p:txBody>
      </p:sp>
      <p:sp>
        <p:nvSpPr>
          <p:cNvPr id="14" name="Text 10"/>
          <p:cNvSpPr/>
          <p:nvPr/>
        </p:nvSpPr>
        <p:spPr>
          <a:xfrm>
            <a:off x="7678942" y="4573091"/>
            <a:ext cx="3678344" cy="252313"/>
          </a:xfrm>
          <a:prstGeom prst="rect">
            <a:avLst/>
          </a:prstGeom>
          <a:noFill/>
          <a:ln/>
        </p:spPr>
        <p:txBody>
          <a:bodyPr wrap="none" lIns="0" tIns="0" rIns="0" bIns="0" rtlCol="0" anchor="t"/>
          <a:lstStyle/>
          <a:p>
            <a:pPr marL="0" indent="0" algn="l">
              <a:lnSpc>
                <a:spcPct val="131000"/>
              </a:lnSpc>
              <a:buNone/>
            </a:pPr>
            <a:r>
              <a:rPr lang="en-US" sz="1250" dirty="0">
                <a:solidFill>
                  <a:srgbClr val="3C3939"/>
                </a:solidFill>
                <a:latin typeface="Roboto" pitchFamily="34" charset="0"/>
                <a:ea typeface="Roboto" pitchFamily="34" charset="-122"/>
                <a:cs typeface="Roboto" pitchFamily="34" charset="-120"/>
              </a:rPr>
              <a:t>Backend / Desarrollo</a:t>
            </a:r>
            <a:endParaRPr lang="en-US" sz="1250" dirty="0"/>
          </a:p>
        </p:txBody>
      </p:sp>
      <p:pic>
        <p:nvPicPr>
          <p:cNvPr id="15"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23560" y="5159772"/>
            <a:ext cx="4112911" cy="1016198"/>
          </a:xfrm>
          <a:prstGeom prst="rect">
            <a:avLst/>
          </a:prstGeom>
        </p:spPr>
      </p:pic>
      <p:sp>
        <p:nvSpPr>
          <p:cNvPr id="16" name="Text 11"/>
          <p:cNvSpPr/>
          <p:nvPr/>
        </p:nvSpPr>
        <p:spPr>
          <a:xfrm>
            <a:off x="7678942" y="5338961"/>
            <a:ext cx="3678344" cy="250329"/>
          </a:xfrm>
          <a:prstGeom prst="rect">
            <a:avLst/>
          </a:prstGeom>
          <a:noFill/>
          <a:ln/>
        </p:spPr>
        <p:txBody>
          <a:bodyPr wrap="none" lIns="0" tIns="0" rIns="0" bIns="0" rtlCol="0" anchor="t"/>
          <a:lstStyle/>
          <a:p>
            <a:pPr marL="0" indent="0" algn="l">
              <a:lnSpc>
                <a:spcPct val="104000"/>
              </a:lnSpc>
              <a:buNone/>
            </a:pPr>
            <a:r>
              <a:rPr lang="en-US" sz="1550" dirty="0">
                <a:solidFill>
                  <a:srgbClr val="3C3939"/>
                </a:solidFill>
                <a:latin typeface="Raleway" pitchFamily="34" charset="0"/>
                <a:ea typeface="Raleway" pitchFamily="34" charset="-122"/>
                <a:cs typeface="Raleway" pitchFamily="34" charset="-120"/>
              </a:rPr>
              <a:t>Marcelo Soto</a:t>
            </a:r>
            <a:endParaRPr lang="en-US" sz="1550" dirty="0"/>
          </a:p>
        </p:txBody>
      </p:sp>
      <p:sp>
        <p:nvSpPr>
          <p:cNvPr id="17" name="Text 12"/>
          <p:cNvSpPr/>
          <p:nvPr/>
        </p:nvSpPr>
        <p:spPr>
          <a:xfrm>
            <a:off x="7678942" y="5744468"/>
            <a:ext cx="3678344" cy="252313"/>
          </a:xfrm>
          <a:prstGeom prst="rect">
            <a:avLst/>
          </a:prstGeom>
          <a:noFill/>
          <a:ln/>
        </p:spPr>
        <p:txBody>
          <a:bodyPr wrap="none" lIns="0" tIns="0" rIns="0" bIns="0" rtlCol="0" anchor="t"/>
          <a:lstStyle/>
          <a:p>
            <a:pPr marL="0" indent="0" algn="l">
              <a:lnSpc>
                <a:spcPct val="131000"/>
              </a:lnSpc>
              <a:buNone/>
            </a:pPr>
            <a:r>
              <a:rPr lang="en-US" sz="1250" dirty="0">
                <a:solidFill>
                  <a:srgbClr val="3C3939"/>
                </a:solidFill>
                <a:latin typeface="Roboto" pitchFamily="34" charset="0"/>
                <a:ea typeface="Roboto" pitchFamily="34" charset="-122"/>
                <a:cs typeface="Roboto" pitchFamily="34" charset="-120"/>
              </a:rPr>
              <a:t>Apoyo Backend / Documentación Técnica</a:t>
            </a:r>
            <a:endParaRPr lang="en-US" sz="1250" dirty="0"/>
          </a:p>
        </p:txBody>
      </p:sp>
      <p:pic>
        <p:nvPicPr>
          <p:cNvPr id="19" name="Imagen 18">
            <a:extLst>
              <a:ext uri="{FF2B5EF4-FFF2-40B4-BE49-F238E27FC236}">
                <a16:creationId xmlns:a16="http://schemas.microsoft.com/office/drawing/2014/main" id="{F42C282A-6ACF-F02A-224F-3E5A181C971D}"/>
              </a:ext>
            </a:extLst>
          </p:cNvPr>
          <p:cNvPicPr>
            <a:picLocks noChangeAspect="1"/>
          </p:cNvPicPr>
          <p:nvPr/>
        </p:nvPicPr>
        <p:blipFill>
          <a:blip r:embed="rId5"/>
          <a:stretch>
            <a:fillRect/>
          </a:stretch>
        </p:blipFill>
        <p:spPr>
          <a:xfrm>
            <a:off x="10914061" y="6498209"/>
            <a:ext cx="1232318" cy="2974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676077"/>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Descripción y Relevancia del Proyecto</a:t>
            </a:r>
            <a:endParaRPr lang="en-US" sz="3250" dirty="0"/>
          </a:p>
        </p:txBody>
      </p:sp>
      <p:sp>
        <p:nvSpPr>
          <p:cNvPr id="3" name="Text 1"/>
          <p:cNvSpPr/>
          <p:nvPr/>
        </p:nvSpPr>
        <p:spPr>
          <a:xfrm>
            <a:off x="661475" y="1589683"/>
            <a:ext cx="5796214"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proyecto consiste en el desarrollo de un sistema móvil </a:t>
            </a:r>
            <a:r>
              <a:rPr lang="en-US" sz="1300" b="1" dirty="0">
                <a:solidFill>
                  <a:srgbClr val="3C3939"/>
                </a:solidFill>
                <a:latin typeface="Roboto Bold" pitchFamily="34" charset="0"/>
                <a:ea typeface="Roboto Bold" pitchFamily="34" charset="-122"/>
                <a:cs typeface="Roboto Bold" pitchFamily="34" charset="-120"/>
              </a:rPr>
              <a:t>offline-first</a:t>
            </a:r>
            <a:r>
              <a:rPr lang="en-US" sz="1300" dirty="0">
                <a:solidFill>
                  <a:srgbClr val="3C3939"/>
                </a:solidFill>
                <a:latin typeface="Roboto" pitchFamily="34" charset="0"/>
                <a:ea typeface="Roboto" pitchFamily="34" charset="-122"/>
                <a:cs typeface="Roboto" pitchFamily="34" charset="-120"/>
              </a:rPr>
              <a:t> diseñado para digitalizar y automatizar el tradicional "cuaderno de fiados" utilizado en microempresas y botillerías. Aborda una problemática real y recurrente en el comercio informal de pequeña escala, donde el registro manual de créditos genera pérdidas económicas y conflictos.</a:t>
            </a:r>
            <a:endParaRPr lang="en-US" sz="1300" dirty="0"/>
          </a:p>
        </p:txBody>
      </p:sp>
      <p:sp>
        <p:nvSpPr>
          <p:cNvPr id="4" name="Text 2"/>
          <p:cNvSpPr/>
          <p:nvPr/>
        </p:nvSpPr>
        <p:spPr>
          <a:xfrm>
            <a:off x="1198830" y="3155652"/>
            <a:ext cx="5258859"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Pérdida de Datos</a:t>
            </a:r>
            <a:endParaRPr lang="en-US" sz="1600" dirty="0"/>
          </a:p>
        </p:txBody>
      </p:sp>
      <p:sp>
        <p:nvSpPr>
          <p:cNvPr id="5" name="Text 3"/>
          <p:cNvSpPr/>
          <p:nvPr/>
        </p:nvSpPr>
        <p:spPr>
          <a:xfrm>
            <a:off x="1198830" y="3579416"/>
            <a:ext cx="5258859" cy="264616"/>
          </a:xfrm>
          <a:prstGeom prst="rect">
            <a:avLst/>
          </a:prstGeom>
          <a:noFill/>
          <a:ln/>
        </p:spPr>
        <p:txBody>
          <a:bodyPr wrap="none" lIns="0" tIns="0" rIns="0" bIns="0" rtlCol="0" anchor="t"/>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Mitiga la pérdida de datos por daños físicos al papel</a:t>
            </a:r>
            <a:endParaRPr lang="en-US" sz="1300" dirty="0"/>
          </a:p>
        </p:txBody>
      </p:sp>
      <p:sp>
        <p:nvSpPr>
          <p:cNvPr id="6" name="Text 4"/>
          <p:cNvSpPr/>
          <p:nvPr/>
        </p:nvSpPr>
        <p:spPr>
          <a:xfrm>
            <a:off x="1198830" y="4231580"/>
            <a:ext cx="5258859"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Errores de Cálculo</a:t>
            </a:r>
            <a:endParaRPr lang="en-US" sz="1600" dirty="0"/>
          </a:p>
        </p:txBody>
      </p:sp>
      <p:sp>
        <p:nvSpPr>
          <p:cNvPr id="7" name="Text 5"/>
          <p:cNvSpPr/>
          <p:nvPr/>
        </p:nvSpPr>
        <p:spPr>
          <a:xfrm>
            <a:off x="1198830" y="4655344"/>
            <a:ext cx="5258859" cy="264616"/>
          </a:xfrm>
          <a:prstGeom prst="rect">
            <a:avLst/>
          </a:prstGeom>
          <a:noFill/>
          <a:ln/>
        </p:spPr>
        <p:txBody>
          <a:bodyPr wrap="none" lIns="0" tIns="0" rIns="0" bIns="0" rtlCol="0" anchor="t"/>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Elimina errores de cálculo manual en el registro de transacciones</a:t>
            </a:r>
            <a:endParaRPr lang="en-US" sz="1300" dirty="0"/>
          </a:p>
        </p:txBody>
      </p:sp>
      <p:sp>
        <p:nvSpPr>
          <p:cNvPr id="8" name="Text 6"/>
          <p:cNvSpPr/>
          <p:nvPr/>
        </p:nvSpPr>
        <p:spPr>
          <a:xfrm>
            <a:off x="1198830" y="5307509"/>
            <a:ext cx="5258859"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Privacidad</a:t>
            </a:r>
            <a:endParaRPr lang="en-US" sz="1600" dirty="0"/>
          </a:p>
        </p:txBody>
      </p:sp>
      <p:sp>
        <p:nvSpPr>
          <p:cNvPr id="9" name="Text 7"/>
          <p:cNvSpPr/>
          <p:nvPr/>
        </p:nvSpPr>
        <p:spPr>
          <a:xfrm>
            <a:off x="1198830" y="5731272"/>
            <a:ext cx="5258859" cy="264616"/>
          </a:xfrm>
          <a:prstGeom prst="rect">
            <a:avLst/>
          </a:prstGeom>
          <a:noFill/>
          <a:ln/>
        </p:spPr>
        <p:txBody>
          <a:bodyPr wrap="none" lIns="0" tIns="0" rIns="0" bIns="0" rtlCol="0" anchor="t"/>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Protege la privacidad del cliente en el punto de venta</a:t>
            </a:r>
            <a:endParaRPr lang="en-US" sz="1300" dirty="0"/>
          </a:p>
        </p:txBody>
      </p:sp>
      <p:sp>
        <p:nvSpPr>
          <p:cNvPr id="10" name="Shape 8"/>
          <p:cNvSpPr/>
          <p:nvPr/>
        </p:nvSpPr>
        <p:spPr>
          <a:xfrm>
            <a:off x="6867452" y="1626890"/>
            <a:ext cx="2251812" cy="1825526"/>
          </a:xfrm>
          <a:prstGeom prst="roundRect">
            <a:avLst>
              <a:gd name="adj" fmla="val 3805"/>
            </a:avLst>
          </a:prstGeom>
          <a:solidFill>
            <a:srgbClr val="E1E1EA"/>
          </a:solidFill>
          <a:ln w="6350">
            <a:solidFill>
              <a:srgbClr val="C7C7D0"/>
            </a:solidFill>
            <a:prstDash val="solid"/>
          </a:ln>
        </p:spPr>
      </p:sp>
      <p:sp>
        <p:nvSpPr>
          <p:cNvPr id="11" name="Text 9"/>
          <p:cNvSpPr/>
          <p:nvPr/>
        </p:nvSpPr>
        <p:spPr>
          <a:xfrm>
            <a:off x="7039097" y="1798538"/>
            <a:ext cx="190852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Historial Auditable</a:t>
            </a:r>
            <a:endParaRPr lang="en-US" sz="1600" dirty="0"/>
          </a:p>
        </p:txBody>
      </p:sp>
      <p:sp>
        <p:nvSpPr>
          <p:cNvPr id="12" name="Text 10"/>
          <p:cNvSpPr/>
          <p:nvPr/>
        </p:nvSpPr>
        <p:spPr>
          <a:xfrm>
            <a:off x="7039097" y="2222302"/>
            <a:ext cx="190852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Proporciona un historial crediticio auditable y trazable para cada cliente</a:t>
            </a:r>
            <a:endParaRPr lang="en-US" sz="1300" dirty="0"/>
          </a:p>
        </p:txBody>
      </p:sp>
      <p:sp>
        <p:nvSpPr>
          <p:cNvPr id="13" name="Shape 11"/>
          <p:cNvSpPr/>
          <p:nvPr/>
        </p:nvSpPr>
        <p:spPr>
          <a:xfrm>
            <a:off x="9284559" y="1626890"/>
            <a:ext cx="2251912" cy="1825526"/>
          </a:xfrm>
          <a:prstGeom prst="roundRect">
            <a:avLst>
              <a:gd name="adj" fmla="val 3805"/>
            </a:avLst>
          </a:prstGeom>
          <a:solidFill>
            <a:srgbClr val="E1E1EA"/>
          </a:solidFill>
          <a:ln w="6350">
            <a:solidFill>
              <a:srgbClr val="C7C7D0"/>
            </a:solidFill>
            <a:prstDash val="solid"/>
          </a:ln>
        </p:spPr>
      </p:sp>
      <p:sp>
        <p:nvSpPr>
          <p:cNvPr id="14" name="Text 12"/>
          <p:cNvSpPr/>
          <p:nvPr/>
        </p:nvSpPr>
        <p:spPr>
          <a:xfrm>
            <a:off x="9456203" y="1798538"/>
            <a:ext cx="1908623"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Autenticación NFC</a:t>
            </a:r>
            <a:endParaRPr lang="en-US" sz="1600" dirty="0"/>
          </a:p>
        </p:txBody>
      </p:sp>
      <p:sp>
        <p:nvSpPr>
          <p:cNvPr id="15" name="Text 13"/>
          <p:cNvSpPr/>
          <p:nvPr/>
        </p:nvSpPr>
        <p:spPr>
          <a:xfrm>
            <a:off x="9456203" y="2222302"/>
            <a:ext cx="1908623"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Autenticación rápida con tecnología NFC sin aplicaciones adicionales en menos de 2 segundos</a:t>
            </a:r>
            <a:endParaRPr lang="en-US" sz="1300" dirty="0"/>
          </a:p>
        </p:txBody>
      </p:sp>
      <p:sp>
        <p:nvSpPr>
          <p:cNvPr id="16" name="Shape 14"/>
          <p:cNvSpPr/>
          <p:nvPr/>
        </p:nvSpPr>
        <p:spPr>
          <a:xfrm>
            <a:off x="6867452" y="3638451"/>
            <a:ext cx="4669018" cy="1438672"/>
          </a:xfrm>
          <a:prstGeom prst="roundRect">
            <a:avLst>
              <a:gd name="adj" fmla="val 4828"/>
            </a:avLst>
          </a:prstGeom>
          <a:solidFill>
            <a:srgbClr val="E1E1EA"/>
          </a:solidFill>
          <a:ln/>
        </p:spPr>
      </p:sp>
      <p:pic>
        <p:nvPicPr>
          <p:cNvPr id="17" name="Image 0" descr="preencoded.png"/>
          <p:cNvPicPr>
            <a:picLocks noChangeAspect="1"/>
          </p:cNvPicPr>
          <p:nvPr/>
        </p:nvPicPr>
        <p:blipFill>
          <a:blip r:embed="rId3"/>
          <a:stretch>
            <a:fillRect/>
          </a:stretch>
        </p:blipFill>
        <p:spPr>
          <a:xfrm>
            <a:off x="7032747" y="3884513"/>
            <a:ext cx="206667" cy="165298"/>
          </a:xfrm>
          <a:prstGeom prst="rect">
            <a:avLst/>
          </a:prstGeom>
        </p:spPr>
      </p:pic>
      <p:sp>
        <p:nvSpPr>
          <p:cNvPr id="18" name="Text 15"/>
          <p:cNvSpPr/>
          <p:nvPr/>
        </p:nvSpPr>
        <p:spPr>
          <a:xfrm>
            <a:off x="7404709" y="3828554"/>
            <a:ext cx="3966468"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Roboto" pitchFamily="34" charset="0"/>
                <a:ea typeface="Roboto" pitchFamily="34" charset="-122"/>
                <a:cs typeface="Roboto" pitchFamily="34" charset="-120"/>
              </a:rPr>
              <a:t>El sistema opera bajo el modelo de </a:t>
            </a:r>
            <a:r>
              <a:rPr lang="en-US" sz="1300" b="1" dirty="0">
                <a:solidFill>
                  <a:srgbClr val="000000"/>
                </a:solidFill>
                <a:latin typeface="Roboto Bold" pitchFamily="34" charset="0"/>
                <a:ea typeface="Roboto Bold" pitchFamily="34" charset="-122"/>
                <a:cs typeface="Roboto Bold" pitchFamily="34" charset="-120"/>
              </a:rPr>
              <a:t>Montos Libres</a:t>
            </a:r>
            <a:r>
              <a:rPr lang="en-US" sz="1300" dirty="0">
                <a:solidFill>
                  <a:srgbClr val="000000"/>
                </a:solidFill>
                <a:latin typeface="Roboto" pitchFamily="34" charset="0"/>
                <a:ea typeface="Roboto" pitchFamily="34" charset="-122"/>
                <a:cs typeface="Roboto" pitchFamily="34" charset="-120"/>
              </a:rPr>
              <a:t>, descartando deliberadamente la gestión de inventario para mantener el alcance controlado dentro del semestre académico.</a:t>
            </a:r>
            <a:endParaRPr lang="en-US" sz="1300" dirty="0"/>
          </a:p>
        </p:txBody>
      </p:sp>
      <p:pic>
        <p:nvPicPr>
          <p:cNvPr id="20" name="Imagen 19">
            <a:extLst>
              <a:ext uri="{FF2B5EF4-FFF2-40B4-BE49-F238E27FC236}">
                <a16:creationId xmlns:a16="http://schemas.microsoft.com/office/drawing/2014/main" id="{AAC302C1-7272-1DA3-452F-BF2110EF78EA}"/>
              </a:ext>
            </a:extLst>
          </p:cNvPr>
          <p:cNvPicPr>
            <a:picLocks noChangeAspect="1"/>
          </p:cNvPicPr>
          <p:nvPr/>
        </p:nvPicPr>
        <p:blipFill>
          <a:blip r:embed="rId4"/>
          <a:stretch>
            <a:fillRect/>
          </a:stretch>
        </p:blipFill>
        <p:spPr>
          <a:xfrm>
            <a:off x="11087004" y="6554044"/>
            <a:ext cx="1104996" cy="26672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304925"/>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Relación con el Perfil de Egreso</a:t>
            </a:r>
            <a:endParaRPr lang="en-US" sz="3250" dirty="0"/>
          </a:p>
        </p:txBody>
      </p:sp>
      <p:sp>
        <p:nvSpPr>
          <p:cNvPr id="3" name="Text 1"/>
          <p:cNvSpPr/>
          <p:nvPr/>
        </p:nvSpPr>
        <p:spPr>
          <a:xfrm>
            <a:off x="661475" y="2152352"/>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Este proyecto moviliza competencias críticas del perfil de egreso en Ingeniería / Desarrollo de Software, articulando tres dominios fundamentales de la disciplina.</a:t>
            </a:r>
            <a:endParaRPr lang="en-US" sz="1300" dirty="0"/>
          </a:p>
        </p:txBody>
      </p:sp>
      <p:sp>
        <p:nvSpPr>
          <p:cNvPr id="4" name="Shape 2"/>
          <p:cNvSpPr/>
          <p:nvPr/>
        </p:nvSpPr>
        <p:spPr>
          <a:xfrm>
            <a:off x="661475" y="2867620"/>
            <a:ext cx="3512653" cy="2685455"/>
          </a:xfrm>
          <a:prstGeom prst="roundRect">
            <a:avLst>
              <a:gd name="adj" fmla="val 2587"/>
            </a:avLst>
          </a:prstGeom>
          <a:solidFill>
            <a:srgbClr val="E1E1EA"/>
          </a:solidFill>
          <a:ln w="6350">
            <a:solidFill>
              <a:srgbClr val="C7C7D0"/>
            </a:solidFill>
            <a:prstDash val="solid"/>
          </a:ln>
        </p:spPr>
      </p:sp>
      <p:sp>
        <p:nvSpPr>
          <p:cNvPr id="5" name="Shape 3"/>
          <p:cNvSpPr/>
          <p:nvPr/>
        </p:nvSpPr>
        <p:spPr>
          <a:xfrm>
            <a:off x="833119" y="3039269"/>
            <a:ext cx="496081" cy="496094"/>
          </a:xfrm>
          <a:prstGeom prst="ellipse">
            <a:avLst/>
          </a:prstGeom>
          <a:solidFill>
            <a:srgbClr val="1B1B27"/>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541" y="3175595"/>
            <a:ext cx="223237" cy="223242"/>
          </a:xfrm>
          <a:prstGeom prst="rect">
            <a:avLst/>
          </a:prstGeom>
        </p:spPr>
      </p:pic>
      <p:sp>
        <p:nvSpPr>
          <p:cNvPr id="7" name="Text 4"/>
          <p:cNvSpPr/>
          <p:nvPr/>
        </p:nvSpPr>
        <p:spPr>
          <a:xfrm>
            <a:off x="833119" y="3700661"/>
            <a:ext cx="316936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Arquitectura y Desarrollo</a:t>
            </a:r>
            <a:endParaRPr lang="en-US" sz="1600" dirty="0"/>
          </a:p>
        </p:txBody>
      </p:sp>
      <p:sp>
        <p:nvSpPr>
          <p:cNvPr id="8" name="Text 5"/>
          <p:cNvSpPr/>
          <p:nvPr/>
        </p:nvSpPr>
        <p:spPr>
          <a:xfrm>
            <a:off x="833119" y="4058345"/>
            <a:ext cx="3169364"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Construcción de aplicaciones móviles multiplataforma y despliegue de arquitecturas en la nube (BaaS). Integración de hardware NFC con frameworks nativos.</a:t>
            </a:r>
            <a:endParaRPr lang="en-US" sz="1300" dirty="0"/>
          </a:p>
        </p:txBody>
      </p:sp>
      <p:sp>
        <p:nvSpPr>
          <p:cNvPr id="9" name="Shape 6"/>
          <p:cNvSpPr/>
          <p:nvPr/>
        </p:nvSpPr>
        <p:spPr>
          <a:xfrm>
            <a:off x="4339422" y="2867620"/>
            <a:ext cx="3512752" cy="2685455"/>
          </a:xfrm>
          <a:prstGeom prst="roundRect">
            <a:avLst>
              <a:gd name="adj" fmla="val 2587"/>
            </a:avLst>
          </a:prstGeom>
          <a:solidFill>
            <a:srgbClr val="E1E1EA"/>
          </a:solidFill>
          <a:ln w="6350">
            <a:solidFill>
              <a:srgbClr val="C7C7D0"/>
            </a:solidFill>
            <a:prstDash val="solid"/>
          </a:ln>
        </p:spPr>
      </p:sp>
      <p:sp>
        <p:nvSpPr>
          <p:cNvPr id="10" name="Shape 7"/>
          <p:cNvSpPr/>
          <p:nvPr/>
        </p:nvSpPr>
        <p:spPr>
          <a:xfrm>
            <a:off x="4511066" y="3039269"/>
            <a:ext cx="496081" cy="496094"/>
          </a:xfrm>
          <a:prstGeom prst="ellipse">
            <a:avLst/>
          </a:prstGeom>
          <a:solidFill>
            <a:srgbClr val="1B1B27"/>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47488" y="3175595"/>
            <a:ext cx="223237" cy="223242"/>
          </a:xfrm>
          <a:prstGeom prst="rect">
            <a:avLst/>
          </a:prstGeom>
        </p:spPr>
      </p:pic>
      <p:sp>
        <p:nvSpPr>
          <p:cNvPr id="12" name="Text 8"/>
          <p:cNvSpPr/>
          <p:nvPr/>
        </p:nvSpPr>
        <p:spPr>
          <a:xfrm>
            <a:off x="4511066" y="3700661"/>
            <a:ext cx="316946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Gestión de Datos</a:t>
            </a:r>
            <a:endParaRPr lang="en-US" sz="1600" dirty="0"/>
          </a:p>
        </p:txBody>
      </p:sp>
      <p:sp>
        <p:nvSpPr>
          <p:cNvPr id="13" name="Text 9"/>
          <p:cNvSpPr/>
          <p:nvPr/>
        </p:nvSpPr>
        <p:spPr>
          <a:xfrm>
            <a:off x="4511066" y="4058345"/>
            <a:ext cx="316946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Modelado de bases de datos relacionales, integridad transaccional y cifrado de datos. Implementación de políticas de seguridad a nivel de fila (RLS).</a:t>
            </a:r>
            <a:endParaRPr lang="en-US" sz="1300" dirty="0"/>
          </a:p>
        </p:txBody>
      </p:sp>
      <p:sp>
        <p:nvSpPr>
          <p:cNvPr id="14" name="Shape 10"/>
          <p:cNvSpPr/>
          <p:nvPr/>
        </p:nvSpPr>
        <p:spPr>
          <a:xfrm>
            <a:off x="8017468" y="2867620"/>
            <a:ext cx="3512653" cy="2685455"/>
          </a:xfrm>
          <a:prstGeom prst="roundRect">
            <a:avLst>
              <a:gd name="adj" fmla="val 2587"/>
            </a:avLst>
          </a:prstGeom>
          <a:solidFill>
            <a:srgbClr val="E1E1EA"/>
          </a:solidFill>
          <a:ln w="6350">
            <a:solidFill>
              <a:srgbClr val="C7C7D0"/>
            </a:solidFill>
            <a:prstDash val="solid"/>
          </a:ln>
        </p:spPr>
      </p:sp>
      <p:sp>
        <p:nvSpPr>
          <p:cNvPr id="15" name="Shape 11"/>
          <p:cNvSpPr/>
          <p:nvPr/>
        </p:nvSpPr>
        <p:spPr>
          <a:xfrm>
            <a:off x="8189112" y="3039269"/>
            <a:ext cx="496081" cy="496094"/>
          </a:xfrm>
          <a:prstGeom prst="ellipse">
            <a:avLst/>
          </a:prstGeom>
          <a:solidFill>
            <a:srgbClr val="1B1B27"/>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25535" y="3175595"/>
            <a:ext cx="223237" cy="223242"/>
          </a:xfrm>
          <a:prstGeom prst="rect">
            <a:avLst/>
          </a:prstGeom>
        </p:spPr>
      </p:pic>
      <p:sp>
        <p:nvSpPr>
          <p:cNvPr id="17" name="Text 12"/>
          <p:cNvSpPr/>
          <p:nvPr/>
        </p:nvSpPr>
        <p:spPr>
          <a:xfrm>
            <a:off x="8189112" y="3700661"/>
            <a:ext cx="316936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Gestión de Proyectos</a:t>
            </a:r>
            <a:endParaRPr lang="en-US" sz="1600" dirty="0"/>
          </a:p>
        </p:txBody>
      </p:sp>
      <p:sp>
        <p:nvSpPr>
          <p:cNvPr id="18" name="Text 13"/>
          <p:cNvSpPr/>
          <p:nvPr/>
        </p:nvSpPr>
        <p:spPr>
          <a:xfrm>
            <a:off x="8189112" y="4058345"/>
            <a:ext cx="3169364"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Aplicación de metodologías ágiles (Scrum), control de versiones con Git y levantamiento estructurado de requerimientos funcionales y no funcionales.</a:t>
            </a:r>
            <a:endParaRPr lang="en-US" sz="1300" dirty="0"/>
          </a:p>
        </p:txBody>
      </p:sp>
      <p:pic>
        <p:nvPicPr>
          <p:cNvPr id="20" name="Imagen 19">
            <a:extLst>
              <a:ext uri="{FF2B5EF4-FFF2-40B4-BE49-F238E27FC236}">
                <a16:creationId xmlns:a16="http://schemas.microsoft.com/office/drawing/2014/main" id="{DA92552E-DB9F-3340-D82C-B4A7599DC116}"/>
              </a:ext>
            </a:extLst>
          </p:cNvPr>
          <p:cNvPicPr>
            <a:picLocks noChangeAspect="1"/>
          </p:cNvPicPr>
          <p:nvPr/>
        </p:nvPicPr>
        <p:blipFill>
          <a:blip r:embed="rId9"/>
          <a:stretch>
            <a:fillRect/>
          </a:stretch>
        </p:blipFill>
        <p:spPr>
          <a:xfrm>
            <a:off x="10929860" y="6568171"/>
            <a:ext cx="1200719" cy="2898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605234"/>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Alineación con Intereses Profesionales</a:t>
            </a:r>
            <a:endParaRPr lang="en-US" sz="3250" dirty="0"/>
          </a:p>
        </p:txBody>
      </p:sp>
      <p:sp>
        <p:nvSpPr>
          <p:cNvPr id="3" name="Text 1"/>
          <p:cNvSpPr/>
          <p:nvPr/>
        </p:nvSpPr>
        <p:spPr>
          <a:xfrm>
            <a:off x="661475" y="1452662"/>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proyecto se alinea estratégicamente con el perfil del equipo, fuertemente orientado al backend y la infraestructura. Cada componente técnico responde a un área de desarrollo profesional concreta.</a:t>
            </a:r>
            <a:endParaRPr lang="en-US" sz="1300" dirty="0"/>
          </a:p>
        </p:txBody>
      </p:sp>
      <p:sp>
        <p:nvSpPr>
          <p:cNvPr id="4" name="Shape 2"/>
          <p:cNvSpPr/>
          <p:nvPr/>
        </p:nvSpPr>
        <p:spPr>
          <a:xfrm>
            <a:off x="542415" y="2167930"/>
            <a:ext cx="5470785" cy="4084836"/>
          </a:xfrm>
          <a:prstGeom prst="roundRect">
            <a:avLst>
              <a:gd name="adj" fmla="val 2915"/>
            </a:avLst>
          </a:prstGeom>
          <a:solidFill>
            <a:srgbClr val="1B1B27">
              <a:alpha val="95000"/>
            </a:srgbClr>
          </a:solidFill>
          <a:ln/>
        </p:spPr>
      </p:sp>
      <p:sp>
        <p:nvSpPr>
          <p:cNvPr id="5" name="Text 3"/>
          <p:cNvSpPr/>
          <p:nvPr/>
        </p:nvSpPr>
        <p:spPr>
          <a:xfrm>
            <a:off x="707710" y="2333228"/>
            <a:ext cx="5140196" cy="258465"/>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Raleway" pitchFamily="34" charset="0"/>
                <a:ea typeface="Raleway" pitchFamily="34" charset="-122"/>
                <a:cs typeface="Raleway" pitchFamily="34" charset="-120"/>
              </a:rPr>
              <a:t>Competencias Backend e Infraestructura</a:t>
            </a:r>
            <a:endParaRPr lang="en-US" sz="1600"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9720" y="2782788"/>
            <a:ext cx="248041" cy="248047"/>
          </a:xfrm>
          <a:prstGeom prst="rect">
            <a:avLst/>
          </a:prstGeom>
        </p:spPr>
      </p:pic>
      <p:sp>
        <p:nvSpPr>
          <p:cNvPr id="7" name="Text 4"/>
          <p:cNvSpPr/>
          <p:nvPr/>
        </p:nvSpPr>
        <p:spPr>
          <a:xfrm>
            <a:off x="1245065" y="2777728"/>
            <a:ext cx="1929360"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FFFFFF"/>
                </a:solidFill>
                <a:latin typeface="Raleway" pitchFamily="34" charset="0"/>
                <a:ea typeface="Raleway" pitchFamily="34" charset="-122"/>
                <a:cs typeface="Raleway" pitchFamily="34" charset="-120"/>
              </a:rPr>
              <a:t>Modelado Relacional</a:t>
            </a:r>
            <a:endParaRPr lang="en-US" sz="1600" dirty="0"/>
          </a:p>
        </p:txBody>
      </p:sp>
      <p:sp>
        <p:nvSpPr>
          <p:cNvPr id="8" name="Text 5"/>
          <p:cNvSpPr/>
          <p:nvPr/>
        </p:nvSpPr>
        <p:spPr>
          <a:xfrm>
            <a:off x="1245065" y="3459956"/>
            <a:ext cx="1929360"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Roboto" pitchFamily="34" charset="0"/>
                <a:ea typeface="Roboto" pitchFamily="34" charset="-122"/>
                <a:cs typeface="Roboto" pitchFamily="34" charset="-120"/>
              </a:rPr>
              <a:t>Conocimientos avanzados en modelado de bases de datos relacionales con Supabase / PostgreSQL</a:t>
            </a:r>
            <a:endParaRPr lang="en-US" sz="1300" dirty="0"/>
          </a:p>
        </p:txBody>
      </p:sp>
      <p:pic>
        <p:nvPicPr>
          <p:cNvPr id="9"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43102" y="2782788"/>
            <a:ext cx="248041" cy="248047"/>
          </a:xfrm>
          <a:prstGeom prst="rect">
            <a:avLst/>
          </a:prstGeom>
        </p:spPr>
      </p:pic>
      <p:sp>
        <p:nvSpPr>
          <p:cNvPr id="10" name="Text 6"/>
          <p:cNvSpPr/>
          <p:nvPr/>
        </p:nvSpPr>
        <p:spPr>
          <a:xfrm>
            <a:off x="3918447" y="2777728"/>
            <a:ext cx="1929459" cy="258465"/>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Raleway" pitchFamily="34" charset="0"/>
                <a:ea typeface="Raleway" pitchFamily="34" charset="-122"/>
                <a:cs typeface="Raleway" pitchFamily="34" charset="-120"/>
              </a:rPr>
              <a:t>Seguridad de Datos</a:t>
            </a:r>
            <a:endParaRPr lang="en-US" sz="1600" dirty="0"/>
          </a:p>
        </p:txBody>
      </p:sp>
      <p:sp>
        <p:nvSpPr>
          <p:cNvPr id="11" name="Text 7"/>
          <p:cNvSpPr/>
          <p:nvPr/>
        </p:nvSpPr>
        <p:spPr>
          <a:xfrm>
            <a:off x="3918447" y="3201491"/>
            <a:ext cx="1929459"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Roboto" pitchFamily="34" charset="0"/>
                <a:ea typeface="Roboto" pitchFamily="34" charset="-122"/>
                <a:cs typeface="Roboto" pitchFamily="34" charset="-120"/>
              </a:rPr>
              <a:t>Creación de políticas de seguridad mediante Row Level Security (RLS)</a:t>
            </a:r>
            <a:endParaRPr lang="en-US" sz="1300" dirty="0"/>
          </a:p>
        </p:txBody>
      </p:sp>
      <p:pic>
        <p:nvPicPr>
          <p:cNvPr id="12"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9720" y="5118795"/>
            <a:ext cx="248041" cy="248047"/>
          </a:xfrm>
          <a:prstGeom prst="rect">
            <a:avLst/>
          </a:prstGeom>
        </p:spPr>
      </p:pic>
      <p:sp>
        <p:nvSpPr>
          <p:cNvPr id="13" name="Text 8"/>
          <p:cNvSpPr/>
          <p:nvPr/>
        </p:nvSpPr>
        <p:spPr>
          <a:xfrm>
            <a:off x="1245065" y="5113734"/>
            <a:ext cx="4602841" cy="258465"/>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Raleway" pitchFamily="34" charset="0"/>
                <a:ea typeface="Raleway" pitchFamily="34" charset="-122"/>
                <a:cs typeface="Raleway" pitchFamily="34" charset="-120"/>
              </a:rPr>
              <a:t>Diseño de APIs</a:t>
            </a:r>
            <a:endParaRPr lang="en-US" sz="1600" dirty="0"/>
          </a:p>
        </p:txBody>
      </p:sp>
      <p:sp>
        <p:nvSpPr>
          <p:cNvPr id="14" name="Text 9"/>
          <p:cNvSpPr/>
          <p:nvPr/>
        </p:nvSpPr>
        <p:spPr>
          <a:xfrm>
            <a:off x="1245065" y="5537498"/>
            <a:ext cx="460284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Roboto" pitchFamily="34" charset="0"/>
                <a:ea typeface="Roboto" pitchFamily="34" charset="-122"/>
                <a:cs typeface="Roboto" pitchFamily="34" charset="-120"/>
              </a:rPr>
              <a:t>Diseño de APIs eficientes mediante Edge Functions en Supabase</a:t>
            </a:r>
            <a:endParaRPr lang="en-US" sz="1300" dirty="0"/>
          </a:p>
        </p:txBody>
      </p:sp>
      <p:sp>
        <p:nvSpPr>
          <p:cNvPr id="15" name="Text 10"/>
          <p:cNvSpPr/>
          <p:nvPr/>
        </p:nvSpPr>
        <p:spPr>
          <a:xfrm>
            <a:off x="6303904" y="2333228"/>
            <a:ext cx="5232666" cy="258465"/>
          </a:xfrm>
          <a:prstGeom prst="rect">
            <a:avLst/>
          </a:prstGeom>
          <a:noFill/>
          <a:ln/>
        </p:spPr>
        <p:txBody>
          <a:bodyPr wrap="none" lIns="0" tIns="0" rIns="0" bIns="0" rtlCol="0" anchor="t"/>
          <a:lstStyle/>
          <a:p>
            <a:pPr marL="0" indent="0" algn="l">
              <a:lnSpc>
                <a:spcPct val="104000"/>
              </a:lnSpc>
              <a:buNone/>
            </a:pPr>
            <a:r>
              <a:rPr lang="en-US" sz="1600" dirty="0">
                <a:solidFill>
                  <a:srgbClr val="1B1B27"/>
                </a:solidFill>
                <a:latin typeface="Raleway" pitchFamily="34" charset="0"/>
                <a:ea typeface="Raleway" pitchFamily="34" charset="-122"/>
                <a:cs typeface="Raleway" pitchFamily="34" charset="-120"/>
              </a:rPr>
              <a:t>Competencias Frontend e Integración</a:t>
            </a:r>
            <a:endParaRPr lang="en-US" sz="1600" dirty="0"/>
          </a:p>
        </p:txBody>
      </p:sp>
      <p:pic>
        <p:nvPicPr>
          <p:cNvPr id="16"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5914" y="2782788"/>
            <a:ext cx="248041" cy="248047"/>
          </a:xfrm>
          <a:prstGeom prst="rect">
            <a:avLst/>
          </a:prstGeom>
        </p:spPr>
      </p:pic>
      <p:sp>
        <p:nvSpPr>
          <p:cNvPr id="17" name="Text 11"/>
          <p:cNvSpPr/>
          <p:nvPr/>
        </p:nvSpPr>
        <p:spPr>
          <a:xfrm>
            <a:off x="6841259" y="2777728"/>
            <a:ext cx="1975594"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Integración de Hardware</a:t>
            </a:r>
            <a:endParaRPr lang="en-US" sz="1600" dirty="0"/>
          </a:p>
        </p:txBody>
      </p:sp>
      <p:sp>
        <p:nvSpPr>
          <p:cNvPr id="18" name="Text 12"/>
          <p:cNvSpPr/>
          <p:nvPr/>
        </p:nvSpPr>
        <p:spPr>
          <a:xfrm>
            <a:off x="6841259" y="3459956"/>
            <a:ext cx="197559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Integración de hardware NFC con lectura nativa desde Flutter</a:t>
            </a:r>
            <a:endParaRPr lang="en-US" sz="1300" dirty="0"/>
          </a:p>
        </p:txBody>
      </p:sp>
      <p:pic>
        <p:nvPicPr>
          <p:cNvPr id="19"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85531" y="2782788"/>
            <a:ext cx="248041" cy="248047"/>
          </a:xfrm>
          <a:prstGeom prst="rect">
            <a:avLst/>
          </a:prstGeom>
        </p:spPr>
      </p:pic>
      <p:sp>
        <p:nvSpPr>
          <p:cNvPr id="20" name="Text 13"/>
          <p:cNvSpPr/>
          <p:nvPr/>
        </p:nvSpPr>
        <p:spPr>
          <a:xfrm>
            <a:off x="9560876" y="2777728"/>
            <a:ext cx="197569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Interfaces Móviles</a:t>
            </a:r>
            <a:endParaRPr lang="en-US" sz="1600" dirty="0"/>
          </a:p>
        </p:txBody>
      </p:sp>
      <p:sp>
        <p:nvSpPr>
          <p:cNvPr id="21" name="Text 14"/>
          <p:cNvSpPr/>
          <p:nvPr/>
        </p:nvSpPr>
        <p:spPr>
          <a:xfrm>
            <a:off x="9560876" y="3201491"/>
            <a:ext cx="197569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Desarrollo de interfaces móviles multiplataforma con Flutter (Dart)</a:t>
            </a:r>
            <a:endParaRPr lang="en-US" sz="1300" dirty="0"/>
          </a:p>
        </p:txBody>
      </p:sp>
      <p:pic>
        <p:nvPicPr>
          <p:cNvPr id="22"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5914" y="4589562"/>
            <a:ext cx="248041" cy="248047"/>
          </a:xfrm>
          <a:prstGeom prst="rect">
            <a:avLst/>
          </a:prstGeom>
        </p:spPr>
      </p:pic>
      <p:sp>
        <p:nvSpPr>
          <p:cNvPr id="23" name="Text 15"/>
          <p:cNvSpPr/>
          <p:nvPr/>
        </p:nvSpPr>
        <p:spPr>
          <a:xfrm>
            <a:off x="6841259" y="4584502"/>
            <a:ext cx="4695311"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Producto Full-Stack</a:t>
            </a:r>
            <a:endParaRPr lang="en-US" sz="1600" dirty="0"/>
          </a:p>
        </p:txBody>
      </p:sp>
      <p:sp>
        <p:nvSpPr>
          <p:cNvPr id="24" name="Text 16"/>
          <p:cNvSpPr/>
          <p:nvPr/>
        </p:nvSpPr>
        <p:spPr>
          <a:xfrm>
            <a:off x="6841259" y="5008265"/>
            <a:ext cx="469531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Entrega de un producto de software completo, desde la capa de datos hasta la interfaz de usuario</a:t>
            </a:r>
            <a:endParaRPr lang="en-US" sz="1300" dirty="0"/>
          </a:p>
        </p:txBody>
      </p:sp>
      <p:pic>
        <p:nvPicPr>
          <p:cNvPr id="26" name="Imagen 25">
            <a:extLst>
              <a:ext uri="{FF2B5EF4-FFF2-40B4-BE49-F238E27FC236}">
                <a16:creationId xmlns:a16="http://schemas.microsoft.com/office/drawing/2014/main" id="{BC7FA907-51D4-6B93-BE17-E396C3810F87}"/>
              </a:ext>
            </a:extLst>
          </p:cNvPr>
          <p:cNvPicPr>
            <a:picLocks noChangeAspect="1"/>
          </p:cNvPicPr>
          <p:nvPr/>
        </p:nvPicPr>
        <p:blipFill>
          <a:blip r:embed="rId7"/>
          <a:stretch>
            <a:fillRect/>
          </a:stretch>
        </p:blipFill>
        <p:spPr>
          <a:xfrm>
            <a:off x="10949300" y="6502774"/>
            <a:ext cx="1174539" cy="28350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242516"/>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Factibilidad del Proyecto</a:t>
            </a:r>
            <a:endParaRPr lang="en-US" sz="3250" dirty="0"/>
          </a:p>
        </p:txBody>
      </p:sp>
      <p:sp>
        <p:nvSpPr>
          <p:cNvPr id="3" name="Text 1"/>
          <p:cNvSpPr/>
          <p:nvPr/>
        </p:nvSpPr>
        <p:spPr>
          <a:xfrm>
            <a:off x="661475" y="2089944"/>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proyecto es altamente factible para desarrollarse dentro del semestre académico debido a un control estricto del alcance y a decisiones tecnológicas que reducen la complejidad operacional.</a:t>
            </a:r>
            <a:endParaRPr lang="en-US" sz="13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805212"/>
            <a:ext cx="3512653" cy="2810173"/>
          </a:xfrm>
          <a:prstGeom prst="rect">
            <a:avLst/>
          </a:prstGeom>
        </p:spPr>
      </p:pic>
      <p:sp>
        <p:nvSpPr>
          <p:cNvPr id="5" name="Text 2"/>
          <p:cNvSpPr/>
          <p:nvPr/>
        </p:nvSpPr>
        <p:spPr>
          <a:xfrm>
            <a:off x="2293781" y="2914055"/>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3C3939"/>
                </a:solidFill>
                <a:latin typeface="Raleway" pitchFamily="34" charset="0"/>
                <a:ea typeface="Raleway" pitchFamily="34" charset="-122"/>
                <a:cs typeface="Raleway" pitchFamily="34" charset="-120"/>
              </a:rPr>
              <a:t>1</a:t>
            </a:r>
            <a:endParaRPr lang="en-US" sz="1950" dirty="0"/>
          </a:p>
        </p:txBody>
      </p:sp>
      <p:sp>
        <p:nvSpPr>
          <p:cNvPr id="6" name="Text 3"/>
          <p:cNvSpPr/>
          <p:nvPr/>
        </p:nvSpPr>
        <p:spPr>
          <a:xfrm>
            <a:off x="845819" y="3485654"/>
            <a:ext cx="3143965"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Exclusión de Inventario</a:t>
            </a:r>
            <a:endParaRPr lang="en-US" sz="1600" dirty="0"/>
          </a:p>
        </p:txBody>
      </p:sp>
      <p:sp>
        <p:nvSpPr>
          <p:cNvPr id="7" name="Text 4"/>
          <p:cNvSpPr/>
          <p:nvPr/>
        </p:nvSpPr>
        <p:spPr>
          <a:xfrm>
            <a:off x="845819" y="3843338"/>
            <a:ext cx="3143965"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Se descartó deliberadamente la gestión de stock y códigos de barras. El sistema operará bajo el modelo de </a:t>
            </a:r>
            <a:r>
              <a:rPr lang="en-US" sz="1300" b="1" dirty="0">
                <a:solidFill>
                  <a:srgbClr val="3C3939"/>
                </a:solidFill>
                <a:latin typeface="Roboto Bold" pitchFamily="34" charset="0"/>
                <a:ea typeface="Roboto Bold" pitchFamily="34" charset="-122"/>
                <a:cs typeface="Roboto Bold" pitchFamily="34" charset="-120"/>
              </a:rPr>
              <a:t>Montos Libres</a:t>
            </a:r>
            <a:r>
              <a:rPr lang="en-US" sz="1300" dirty="0">
                <a:solidFill>
                  <a:srgbClr val="3C3939"/>
                </a:solidFill>
                <a:latin typeface="Roboto" pitchFamily="34" charset="0"/>
                <a:ea typeface="Roboto" pitchFamily="34" charset="-122"/>
                <a:cs typeface="Roboto" pitchFamily="34" charset="-120"/>
              </a:rPr>
              <a:t> (transaccional), eliminando una fuente significativa de complejidad de desarrollo.</a:t>
            </a:r>
            <a:endParaRPr lang="en-US" sz="130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422" y="2805212"/>
            <a:ext cx="3512752" cy="2810173"/>
          </a:xfrm>
          <a:prstGeom prst="rect">
            <a:avLst/>
          </a:prstGeom>
        </p:spPr>
      </p:pic>
      <p:sp>
        <p:nvSpPr>
          <p:cNvPr id="9" name="Text 5"/>
          <p:cNvSpPr/>
          <p:nvPr/>
        </p:nvSpPr>
        <p:spPr>
          <a:xfrm>
            <a:off x="5971728" y="2914055"/>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3C3939"/>
                </a:solidFill>
                <a:latin typeface="Raleway" pitchFamily="34" charset="0"/>
                <a:ea typeface="Raleway" pitchFamily="34" charset="-122"/>
                <a:cs typeface="Raleway" pitchFamily="34" charset="-120"/>
              </a:rPr>
              <a:t>2</a:t>
            </a:r>
            <a:endParaRPr lang="en-US" sz="1950" dirty="0"/>
          </a:p>
        </p:txBody>
      </p:sp>
      <p:sp>
        <p:nvSpPr>
          <p:cNvPr id="10" name="Text 6"/>
          <p:cNvSpPr/>
          <p:nvPr/>
        </p:nvSpPr>
        <p:spPr>
          <a:xfrm>
            <a:off x="4523766" y="3485654"/>
            <a:ext cx="314406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Infraestructura BaaS</a:t>
            </a:r>
            <a:endParaRPr lang="en-US" sz="1600" dirty="0"/>
          </a:p>
        </p:txBody>
      </p:sp>
      <p:sp>
        <p:nvSpPr>
          <p:cNvPr id="11" name="Text 7"/>
          <p:cNvSpPr/>
          <p:nvPr/>
        </p:nvSpPr>
        <p:spPr>
          <a:xfrm>
            <a:off x="4523766" y="3843338"/>
            <a:ext cx="3144064" cy="1587698"/>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3C3939"/>
                </a:solidFill>
                <a:latin typeface="Roboto Bold" pitchFamily="34" charset="0"/>
                <a:ea typeface="Roboto Bold" pitchFamily="34" charset="-122"/>
                <a:cs typeface="Roboto Bold" pitchFamily="34" charset="-120"/>
              </a:rPr>
              <a:t>Supabase</a:t>
            </a:r>
            <a:r>
              <a:rPr lang="en-US" sz="1300" dirty="0">
                <a:solidFill>
                  <a:srgbClr val="3C3939"/>
                </a:solidFill>
                <a:latin typeface="Roboto" pitchFamily="34" charset="0"/>
                <a:ea typeface="Roboto" pitchFamily="34" charset="-122"/>
                <a:cs typeface="Roboto" pitchFamily="34" charset="-120"/>
              </a:rPr>
              <a:t> reduce drásticamente el tiempo de configuración de servidores. Provee autenticación, base de datos PostgreSQL y Edge Functions listas para usar, sin necesidad de administrar infraestructura propia.</a:t>
            </a:r>
            <a:endParaRPr lang="en-US" sz="1300" dirty="0"/>
          </a:p>
        </p:txBody>
      </p:sp>
      <p:pic>
        <p:nvPicPr>
          <p:cNvPr id="12"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17468" y="2805212"/>
            <a:ext cx="3512653" cy="2810173"/>
          </a:xfrm>
          <a:prstGeom prst="rect">
            <a:avLst/>
          </a:prstGeom>
        </p:spPr>
      </p:pic>
      <p:sp>
        <p:nvSpPr>
          <p:cNvPr id="13" name="Text 8"/>
          <p:cNvSpPr/>
          <p:nvPr/>
        </p:nvSpPr>
        <p:spPr>
          <a:xfrm>
            <a:off x="9649774" y="2914055"/>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3C3939"/>
                </a:solidFill>
                <a:latin typeface="Raleway" pitchFamily="34" charset="0"/>
                <a:ea typeface="Raleway" pitchFamily="34" charset="-122"/>
                <a:cs typeface="Raleway" pitchFamily="34" charset="-120"/>
              </a:rPr>
              <a:t>3</a:t>
            </a:r>
            <a:endParaRPr lang="en-US" sz="1950" dirty="0"/>
          </a:p>
        </p:txBody>
      </p:sp>
      <p:sp>
        <p:nvSpPr>
          <p:cNvPr id="14" name="Text 9"/>
          <p:cNvSpPr/>
          <p:nvPr/>
        </p:nvSpPr>
        <p:spPr>
          <a:xfrm>
            <a:off x="8201812" y="3485654"/>
            <a:ext cx="3143965"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Hardware Accesible</a:t>
            </a:r>
            <a:endParaRPr lang="en-US" sz="1600" dirty="0"/>
          </a:p>
        </p:txBody>
      </p:sp>
      <p:sp>
        <p:nvSpPr>
          <p:cNvPr id="15" name="Text 10"/>
          <p:cNvSpPr/>
          <p:nvPr/>
        </p:nvSpPr>
        <p:spPr>
          <a:xfrm>
            <a:off x="8201812" y="3843338"/>
            <a:ext cx="3143965"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Las etiquetas </a:t>
            </a:r>
            <a:r>
              <a:rPr lang="en-US" sz="1300" b="1" dirty="0">
                <a:solidFill>
                  <a:srgbClr val="3C3939"/>
                </a:solidFill>
                <a:latin typeface="Roboto Bold" pitchFamily="34" charset="0"/>
                <a:ea typeface="Roboto Bold" pitchFamily="34" charset="-122"/>
                <a:cs typeface="Roboto Bold" pitchFamily="34" charset="-120"/>
              </a:rPr>
              <a:t>NFC NDEF</a:t>
            </a:r>
            <a:r>
              <a:rPr lang="en-US" sz="1300" dirty="0">
                <a:solidFill>
                  <a:srgbClr val="3C3939"/>
                </a:solidFill>
                <a:latin typeface="Roboto" pitchFamily="34" charset="0"/>
                <a:ea typeface="Roboto" pitchFamily="34" charset="-122"/>
                <a:cs typeface="Roboto" pitchFamily="34" charset="-120"/>
              </a:rPr>
              <a:t> son de bajo costo y los frameworks actuales (Flutter) las leen de forma nativa, sin requerir hardware especializado ni licencias adicionales.</a:t>
            </a:r>
            <a:endParaRPr lang="en-US" sz="1300" dirty="0"/>
          </a:p>
        </p:txBody>
      </p:sp>
      <p:pic>
        <p:nvPicPr>
          <p:cNvPr id="17" name="Imagen 16">
            <a:extLst>
              <a:ext uri="{FF2B5EF4-FFF2-40B4-BE49-F238E27FC236}">
                <a16:creationId xmlns:a16="http://schemas.microsoft.com/office/drawing/2014/main" id="{8CB2FDF1-792B-E7B6-06B4-95D82178AF7E}"/>
              </a:ext>
            </a:extLst>
          </p:cNvPr>
          <p:cNvPicPr>
            <a:picLocks noChangeAspect="1"/>
          </p:cNvPicPr>
          <p:nvPr/>
        </p:nvPicPr>
        <p:blipFill>
          <a:blip r:embed="rId5"/>
          <a:stretch>
            <a:fillRect/>
          </a:stretch>
        </p:blipFill>
        <p:spPr>
          <a:xfrm>
            <a:off x="11087004" y="6591277"/>
            <a:ext cx="1104996" cy="2667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493216"/>
            <a:ext cx="10868745" cy="492621"/>
          </a:xfrm>
          <a:prstGeom prst="rect">
            <a:avLst/>
          </a:prstGeom>
          <a:noFill/>
          <a:ln/>
        </p:spPr>
        <p:txBody>
          <a:bodyPr wrap="none" lIns="0" tIns="0" rIns="0" bIns="0" rtlCol="0" anchor="t"/>
          <a:lstStyle/>
          <a:p>
            <a:pPr marL="0" indent="0" algn="l">
              <a:lnSpc>
                <a:spcPct val="104000"/>
              </a:lnSpc>
              <a:buNone/>
            </a:pPr>
            <a:r>
              <a:rPr lang="en-US" sz="3100" dirty="0">
                <a:solidFill>
                  <a:srgbClr val="1B1B27"/>
                </a:solidFill>
                <a:latin typeface="Raleway" pitchFamily="34" charset="0"/>
                <a:ea typeface="Raleway" pitchFamily="34" charset="-122"/>
                <a:cs typeface="Raleway" pitchFamily="34" charset="-120"/>
              </a:rPr>
              <a:t>Objetivos del Proyecto</a:t>
            </a:r>
            <a:endParaRPr lang="en-US" sz="3100" dirty="0"/>
          </a:p>
        </p:txBody>
      </p:sp>
      <p:sp>
        <p:nvSpPr>
          <p:cNvPr id="3" name="Shape 1"/>
          <p:cNvSpPr/>
          <p:nvPr/>
        </p:nvSpPr>
        <p:spPr>
          <a:xfrm>
            <a:off x="547971" y="1211163"/>
            <a:ext cx="4906344" cy="1914203"/>
          </a:xfrm>
          <a:prstGeom prst="roundRect">
            <a:avLst>
              <a:gd name="adj" fmla="val 2313"/>
            </a:avLst>
          </a:prstGeom>
          <a:solidFill>
            <a:srgbClr val="1B1B27">
              <a:alpha val="95000"/>
            </a:srgbClr>
          </a:solidFill>
          <a:ln/>
        </p:spPr>
      </p:sp>
      <p:sp>
        <p:nvSpPr>
          <p:cNvPr id="4" name="Text 2"/>
          <p:cNvSpPr/>
          <p:nvPr/>
        </p:nvSpPr>
        <p:spPr>
          <a:xfrm>
            <a:off x="705527" y="1361380"/>
            <a:ext cx="4591233" cy="246261"/>
          </a:xfrm>
          <a:prstGeom prst="rect">
            <a:avLst/>
          </a:prstGeom>
          <a:noFill/>
          <a:ln/>
        </p:spPr>
        <p:txBody>
          <a:bodyPr wrap="none" lIns="0" tIns="0" rIns="0" bIns="0" rtlCol="0" anchor="t"/>
          <a:lstStyle/>
          <a:p>
            <a:pPr marL="0" indent="0" algn="l">
              <a:lnSpc>
                <a:spcPct val="104000"/>
              </a:lnSpc>
              <a:buNone/>
            </a:pPr>
            <a:r>
              <a:rPr lang="en-US" sz="1550" dirty="0">
                <a:solidFill>
                  <a:srgbClr val="FFFFFF"/>
                </a:solidFill>
                <a:latin typeface="Raleway" pitchFamily="34" charset="0"/>
                <a:ea typeface="Raleway" pitchFamily="34" charset="-122"/>
                <a:cs typeface="Raleway" pitchFamily="34" charset="-120"/>
              </a:rPr>
              <a:t>Objetivo General</a:t>
            </a:r>
            <a:endParaRPr lang="en-US" sz="1550" dirty="0"/>
          </a:p>
        </p:txBody>
      </p:sp>
      <p:sp>
        <p:nvSpPr>
          <p:cNvPr id="5" name="Text 3"/>
          <p:cNvSpPr/>
          <p:nvPr/>
        </p:nvSpPr>
        <p:spPr>
          <a:xfrm>
            <a:off x="705527" y="1757859"/>
            <a:ext cx="4591233" cy="985044"/>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FFFFFF"/>
                </a:solidFill>
                <a:latin typeface="Roboto" pitchFamily="34" charset="0"/>
                <a:ea typeface="Roboto" pitchFamily="34" charset="-122"/>
                <a:cs typeface="Roboto" pitchFamily="34" charset="-120"/>
              </a:rPr>
              <a:t>Desarrollar un sistema móvil de gestión de créditos informales validado por tecnología NFC que automatice el registro transaccional y provea estados de cuenta auditables para microempresas en un plazo de </a:t>
            </a:r>
            <a:r>
              <a:rPr lang="en-US" sz="1200" b="1" dirty="0">
                <a:solidFill>
                  <a:srgbClr val="FFFFFF"/>
                </a:solidFill>
                <a:latin typeface="Roboto Bold" pitchFamily="34" charset="0"/>
                <a:ea typeface="Roboto Bold" pitchFamily="34" charset="-122"/>
                <a:cs typeface="Roboto Bold" pitchFamily="34" charset="-120"/>
              </a:rPr>
              <a:t>16 semanas</a:t>
            </a:r>
            <a:r>
              <a:rPr lang="en-US" sz="1200" dirty="0">
                <a:solidFill>
                  <a:srgbClr val="FFFFFF"/>
                </a:solidFill>
                <a:latin typeface="Roboto" pitchFamily="34" charset="0"/>
                <a:ea typeface="Roboto" pitchFamily="34" charset="-122"/>
                <a:cs typeface="Roboto" pitchFamily="34" charset="-120"/>
              </a:rPr>
              <a:t>.</a:t>
            </a:r>
            <a:endParaRPr lang="en-US" sz="1200" dirty="0"/>
          </a:p>
        </p:txBody>
      </p:sp>
      <p:sp>
        <p:nvSpPr>
          <p:cNvPr id="6" name="Text 4"/>
          <p:cNvSpPr/>
          <p:nvPr/>
        </p:nvSpPr>
        <p:spPr>
          <a:xfrm>
            <a:off x="5731724" y="1361380"/>
            <a:ext cx="5804747" cy="246261"/>
          </a:xfrm>
          <a:prstGeom prst="rect">
            <a:avLst/>
          </a:prstGeom>
          <a:noFill/>
          <a:ln/>
        </p:spPr>
        <p:txBody>
          <a:bodyPr wrap="none" lIns="0" tIns="0" rIns="0" bIns="0" rtlCol="0" anchor="t"/>
          <a:lstStyle/>
          <a:p>
            <a:pPr marL="0" indent="0" algn="l">
              <a:lnSpc>
                <a:spcPct val="104000"/>
              </a:lnSpc>
              <a:buNone/>
            </a:pPr>
            <a:r>
              <a:rPr lang="en-US" sz="1550" dirty="0">
                <a:solidFill>
                  <a:srgbClr val="1B1B27"/>
                </a:solidFill>
                <a:latin typeface="Raleway" pitchFamily="34" charset="0"/>
                <a:ea typeface="Raleway" pitchFamily="34" charset="-122"/>
                <a:cs typeface="Raleway" pitchFamily="34" charset="-120"/>
              </a:rPr>
              <a:t>Objetivos Específicos</a:t>
            </a:r>
            <a:endParaRPr lang="en-US" sz="1550" dirty="0"/>
          </a:p>
        </p:txBody>
      </p:sp>
      <p:sp>
        <p:nvSpPr>
          <p:cNvPr id="7" name="Text 5"/>
          <p:cNvSpPr/>
          <p:nvPr/>
        </p:nvSpPr>
        <p:spPr>
          <a:xfrm>
            <a:off x="5731724" y="1776611"/>
            <a:ext cx="315210" cy="197048"/>
          </a:xfrm>
          <a:prstGeom prst="rect">
            <a:avLst/>
          </a:prstGeom>
          <a:noFill/>
          <a:ln/>
        </p:spPr>
        <p:txBody>
          <a:bodyPr wrap="none" lIns="0" tIns="0" rIns="0" bIns="0" rtlCol="0" anchor="ctr"/>
          <a:lstStyle/>
          <a:p>
            <a:pPr marL="0" indent="0" algn="l">
              <a:lnSpc>
                <a:spcPct val="100000"/>
              </a:lnSpc>
              <a:buNone/>
            </a:pPr>
            <a:r>
              <a:rPr lang="en-US" sz="1200" dirty="0">
                <a:solidFill>
                  <a:srgbClr val="3C3939"/>
                </a:solidFill>
                <a:latin typeface="Raleway Light" pitchFamily="34" charset="0"/>
                <a:ea typeface="Raleway Light" pitchFamily="34" charset="-122"/>
                <a:cs typeface="Raleway Light" pitchFamily="34" charset="-120"/>
              </a:rPr>
              <a:t>01</a:t>
            </a:r>
            <a:endParaRPr lang="en-US" sz="1200" dirty="0"/>
          </a:p>
        </p:txBody>
      </p:sp>
      <p:sp>
        <p:nvSpPr>
          <p:cNvPr id="8" name="Shape 6"/>
          <p:cNvSpPr/>
          <p:nvPr/>
        </p:nvSpPr>
        <p:spPr>
          <a:xfrm>
            <a:off x="5731724" y="2025452"/>
            <a:ext cx="5804747" cy="19050"/>
          </a:xfrm>
          <a:prstGeom prst="rect">
            <a:avLst/>
          </a:prstGeom>
          <a:solidFill>
            <a:srgbClr val="1B1B27"/>
          </a:solidFill>
          <a:ln/>
        </p:spPr>
      </p:sp>
      <p:sp>
        <p:nvSpPr>
          <p:cNvPr id="9" name="Text 7"/>
          <p:cNvSpPr/>
          <p:nvPr/>
        </p:nvSpPr>
        <p:spPr>
          <a:xfrm>
            <a:off x="5731724" y="2142331"/>
            <a:ext cx="5804747" cy="246261"/>
          </a:xfrm>
          <a:prstGeom prst="rect">
            <a:avLst/>
          </a:prstGeom>
          <a:noFill/>
          <a:ln/>
        </p:spPr>
        <p:txBody>
          <a:bodyPr wrap="none" lIns="0" tIns="0" rIns="0" bIns="0" rtlCol="0" anchor="t"/>
          <a:lstStyle/>
          <a:p>
            <a:pPr marL="0" indent="0" algn="l">
              <a:lnSpc>
                <a:spcPct val="104000"/>
              </a:lnSpc>
              <a:buNone/>
            </a:pPr>
            <a:r>
              <a:rPr lang="en-US" sz="1550" dirty="0">
                <a:solidFill>
                  <a:srgbClr val="3C3939"/>
                </a:solidFill>
                <a:latin typeface="Raleway" pitchFamily="34" charset="0"/>
                <a:ea typeface="Raleway" pitchFamily="34" charset="-122"/>
                <a:cs typeface="Raleway" pitchFamily="34" charset="-120"/>
              </a:rPr>
              <a:t>Módulo NFC</a:t>
            </a:r>
            <a:endParaRPr lang="en-US" sz="1550" dirty="0"/>
          </a:p>
        </p:txBody>
      </p:sp>
      <p:sp>
        <p:nvSpPr>
          <p:cNvPr id="10" name="Text 8"/>
          <p:cNvSpPr/>
          <p:nvPr/>
        </p:nvSpPr>
        <p:spPr>
          <a:xfrm>
            <a:off x="5731724" y="2538809"/>
            <a:ext cx="5804747"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3C3939"/>
                </a:solidFill>
                <a:latin typeface="Roboto" pitchFamily="34" charset="0"/>
                <a:ea typeface="Roboto" pitchFamily="34" charset="-122"/>
                <a:cs typeface="Roboto" pitchFamily="34" charset="-120"/>
              </a:rPr>
              <a:t>Implementar un módulo de autenticación de clientes mediante lectura de etiquetas NFC NDEF en </a:t>
            </a:r>
            <a:r>
              <a:rPr lang="en-US" sz="1200" b="1" dirty="0">
                <a:solidFill>
                  <a:srgbClr val="3C3939"/>
                </a:solidFill>
                <a:latin typeface="Roboto Bold" pitchFamily="34" charset="0"/>
                <a:ea typeface="Roboto Bold" pitchFamily="34" charset="-122"/>
                <a:cs typeface="Roboto Bold" pitchFamily="34" charset="-120"/>
              </a:rPr>
              <a:t>menos de 2 segundos</a:t>
            </a:r>
            <a:endParaRPr lang="en-US" sz="1200" dirty="0"/>
          </a:p>
        </p:txBody>
      </p:sp>
      <p:sp>
        <p:nvSpPr>
          <p:cNvPr id="11" name="Text 9"/>
          <p:cNvSpPr/>
          <p:nvPr/>
        </p:nvSpPr>
        <p:spPr>
          <a:xfrm>
            <a:off x="5731724" y="3299718"/>
            <a:ext cx="315210" cy="197048"/>
          </a:xfrm>
          <a:prstGeom prst="rect">
            <a:avLst/>
          </a:prstGeom>
          <a:noFill/>
          <a:ln/>
        </p:spPr>
        <p:txBody>
          <a:bodyPr wrap="none" lIns="0" tIns="0" rIns="0" bIns="0" rtlCol="0" anchor="ctr"/>
          <a:lstStyle/>
          <a:p>
            <a:pPr marL="0" indent="0" algn="l">
              <a:lnSpc>
                <a:spcPct val="100000"/>
              </a:lnSpc>
              <a:buNone/>
            </a:pPr>
            <a:r>
              <a:rPr lang="en-US" sz="1200" dirty="0">
                <a:solidFill>
                  <a:srgbClr val="3C3939"/>
                </a:solidFill>
                <a:latin typeface="Raleway Light" pitchFamily="34" charset="0"/>
                <a:ea typeface="Raleway Light" pitchFamily="34" charset="-122"/>
                <a:cs typeface="Raleway Light" pitchFamily="34" charset="-120"/>
              </a:rPr>
              <a:t>02</a:t>
            </a:r>
            <a:endParaRPr lang="en-US" sz="1200" dirty="0"/>
          </a:p>
        </p:txBody>
      </p:sp>
      <p:sp>
        <p:nvSpPr>
          <p:cNvPr id="12" name="Shape 10"/>
          <p:cNvSpPr/>
          <p:nvPr/>
        </p:nvSpPr>
        <p:spPr>
          <a:xfrm>
            <a:off x="5731724" y="3548559"/>
            <a:ext cx="5804747" cy="19050"/>
          </a:xfrm>
          <a:prstGeom prst="rect">
            <a:avLst/>
          </a:prstGeom>
          <a:solidFill>
            <a:srgbClr val="1B1B27"/>
          </a:solidFill>
          <a:ln/>
        </p:spPr>
      </p:sp>
      <p:sp>
        <p:nvSpPr>
          <p:cNvPr id="13" name="Text 11"/>
          <p:cNvSpPr/>
          <p:nvPr/>
        </p:nvSpPr>
        <p:spPr>
          <a:xfrm>
            <a:off x="5731724" y="3665438"/>
            <a:ext cx="5804747" cy="246261"/>
          </a:xfrm>
          <a:prstGeom prst="rect">
            <a:avLst/>
          </a:prstGeom>
          <a:noFill/>
          <a:ln/>
        </p:spPr>
        <p:txBody>
          <a:bodyPr wrap="none" lIns="0" tIns="0" rIns="0" bIns="0" rtlCol="0" anchor="t"/>
          <a:lstStyle/>
          <a:p>
            <a:pPr marL="0" indent="0" algn="l">
              <a:lnSpc>
                <a:spcPct val="104000"/>
              </a:lnSpc>
              <a:buNone/>
            </a:pPr>
            <a:r>
              <a:rPr lang="en-US" sz="1550" dirty="0">
                <a:solidFill>
                  <a:srgbClr val="3C3939"/>
                </a:solidFill>
                <a:latin typeface="Raleway" pitchFamily="34" charset="0"/>
                <a:ea typeface="Raleway" pitchFamily="34" charset="-122"/>
                <a:cs typeface="Raleway" pitchFamily="34" charset="-120"/>
              </a:rPr>
              <a:t>Base de Datos Segura</a:t>
            </a:r>
            <a:endParaRPr lang="en-US" sz="1550" dirty="0"/>
          </a:p>
        </p:txBody>
      </p:sp>
      <p:sp>
        <p:nvSpPr>
          <p:cNvPr id="14" name="Text 12"/>
          <p:cNvSpPr/>
          <p:nvPr/>
        </p:nvSpPr>
        <p:spPr>
          <a:xfrm>
            <a:off x="5731724" y="4061916"/>
            <a:ext cx="5804747"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3C3939"/>
                </a:solidFill>
                <a:latin typeface="Roboto" pitchFamily="34" charset="0"/>
                <a:ea typeface="Roboto" pitchFamily="34" charset="-122"/>
                <a:cs typeface="Roboto" pitchFamily="34" charset="-120"/>
              </a:rPr>
              <a:t>Desarrollar una base de datos relacional y segura en </a:t>
            </a:r>
            <a:r>
              <a:rPr lang="en-US" sz="1200" b="1" dirty="0">
                <a:solidFill>
                  <a:srgbClr val="3C3939"/>
                </a:solidFill>
                <a:latin typeface="Roboto Bold" pitchFamily="34" charset="0"/>
                <a:ea typeface="Roboto Bold" pitchFamily="34" charset="-122"/>
                <a:cs typeface="Roboto Bold" pitchFamily="34" charset="-120"/>
              </a:rPr>
              <a:t>Supabase</a:t>
            </a:r>
            <a:r>
              <a:rPr lang="en-US" sz="1200" dirty="0">
                <a:solidFill>
                  <a:srgbClr val="3C3939"/>
                </a:solidFill>
                <a:latin typeface="Roboto" pitchFamily="34" charset="0"/>
                <a:ea typeface="Roboto" pitchFamily="34" charset="-122"/>
                <a:cs typeface="Roboto" pitchFamily="34" charset="-120"/>
              </a:rPr>
              <a:t> para almacenar el historial financiero de cada cliente</a:t>
            </a:r>
            <a:endParaRPr lang="en-US" sz="1200" dirty="0"/>
          </a:p>
        </p:txBody>
      </p:sp>
      <p:sp>
        <p:nvSpPr>
          <p:cNvPr id="15" name="Text 13"/>
          <p:cNvSpPr/>
          <p:nvPr/>
        </p:nvSpPr>
        <p:spPr>
          <a:xfrm>
            <a:off x="5731724" y="4822825"/>
            <a:ext cx="315210" cy="197048"/>
          </a:xfrm>
          <a:prstGeom prst="rect">
            <a:avLst/>
          </a:prstGeom>
          <a:noFill/>
          <a:ln/>
        </p:spPr>
        <p:txBody>
          <a:bodyPr wrap="none" lIns="0" tIns="0" rIns="0" bIns="0" rtlCol="0" anchor="ctr"/>
          <a:lstStyle/>
          <a:p>
            <a:pPr marL="0" indent="0" algn="l">
              <a:lnSpc>
                <a:spcPct val="100000"/>
              </a:lnSpc>
              <a:buNone/>
            </a:pPr>
            <a:r>
              <a:rPr lang="en-US" sz="1200" dirty="0">
                <a:solidFill>
                  <a:srgbClr val="3C3939"/>
                </a:solidFill>
                <a:latin typeface="Raleway Light" pitchFamily="34" charset="0"/>
                <a:ea typeface="Raleway Light" pitchFamily="34" charset="-122"/>
                <a:cs typeface="Raleway Light" pitchFamily="34" charset="-120"/>
              </a:rPr>
              <a:t>03</a:t>
            </a:r>
            <a:endParaRPr lang="en-US" sz="1200" dirty="0"/>
          </a:p>
        </p:txBody>
      </p:sp>
      <p:sp>
        <p:nvSpPr>
          <p:cNvPr id="16" name="Shape 14"/>
          <p:cNvSpPr/>
          <p:nvPr/>
        </p:nvSpPr>
        <p:spPr>
          <a:xfrm>
            <a:off x="5731724" y="5071666"/>
            <a:ext cx="5804747" cy="19050"/>
          </a:xfrm>
          <a:prstGeom prst="rect">
            <a:avLst/>
          </a:prstGeom>
          <a:solidFill>
            <a:srgbClr val="1B1B27"/>
          </a:solidFill>
          <a:ln/>
        </p:spPr>
      </p:sp>
      <p:sp>
        <p:nvSpPr>
          <p:cNvPr id="17" name="Text 15"/>
          <p:cNvSpPr/>
          <p:nvPr/>
        </p:nvSpPr>
        <p:spPr>
          <a:xfrm>
            <a:off x="5731724" y="5188545"/>
            <a:ext cx="5804747" cy="246261"/>
          </a:xfrm>
          <a:prstGeom prst="rect">
            <a:avLst/>
          </a:prstGeom>
          <a:noFill/>
          <a:ln/>
        </p:spPr>
        <p:txBody>
          <a:bodyPr wrap="none" lIns="0" tIns="0" rIns="0" bIns="0" rtlCol="0" anchor="t"/>
          <a:lstStyle/>
          <a:p>
            <a:pPr marL="0" indent="0" algn="l">
              <a:lnSpc>
                <a:spcPct val="104000"/>
              </a:lnSpc>
              <a:buNone/>
            </a:pPr>
            <a:r>
              <a:rPr lang="en-US" sz="1550" dirty="0">
                <a:solidFill>
                  <a:srgbClr val="3C3939"/>
                </a:solidFill>
                <a:latin typeface="Raleway" pitchFamily="34" charset="0"/>
                <a:ea typeface="Raleway" pitchFamily="34" charset="-122"/>
                <a:cs typeface="Raleway" pitchFamily="34" charset="-120"/>
              </a:rPr>
              <a:t>Sincronización Offline-First</a:t>
            </a:r>
            <a:endParaRPr lang="en-US" sz="1550" dirty="0"/>
          </a:p>
        </p:txBody>
      </p:sp>
      <p:sp>
        <p:nvSpPr>
          <p:cNvPr id="18" name="Text 16"/>
          <p:cNvSpPr/>
          <p:nvPr/>
        </p:nvSpPr>
        <p:spPr>
          <a:xfrm>
            <a:off x="5731724" y="5585023"/>
            <a:ext cx="5804747"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3C3939"/>
                </a:solidFill>
                <a:latin typeface="Roboto" pitchFamily="34" charset="0"/>
                <a:ea typeface="Roboto" pitchFamily="34" charset="-122"/>
                <a:cs typeface="Roboto" pitchFamily="34" charset="-120"/>
              </a:rPr>
              <a:t>Diseñar un mecanismo de sincronización </a:t>
            </a:r>
            <a:r>
              <a:rPr lang="en-US" sz="1200" b="1" dirty="0">
                <a:solidFill>
                  <a:srgbClr val="3C3939"/>
                </a:solidFill>
                <a:latin typeface="Roboto Bold" pitchFamily="34" charset="0"/>
                <a:ea typeface="Roboto Bold" pitchFamily="34" charset="-122"/>
                <a:cs typeface="Roboto Bold" pitchFamily="34" charset="-120"/>
              </a:rPr>
              <a:t>offline-first</a:t>
            </a:r>
            <a:r>
              <a:rPr lang="en-US" sz="1200" dirty="0">
                <a:solidFill>
                  <a:srgbClr val="3C3939"/>
                </a:solidFill>
                <a:latin typeface="Roboto" pitchFamily="34" charset="0"/>
                <a:ea typeface="Roboto" pitchFamily="34" charset="-122"/>
                <a:cs typeface="Roboto" pitchFamily="34" charset="-120"/>
              </a:rPr>
              <a:t> que registre transacciones locales y las envíe al servidor al recuperar conexión</a:t>
            </a:r>
            <a:endParaRPr lang="en-US" sz="1200" dirty="0"/>
          </a:p>
        </p:txBody>
      </p:sp>
      <p:pic>
        <p:nvPicPr>
          <p:cNvPr id="3076" name="Picture 4" descr="Imágenes de Nfc Logo: descubre bancos de fotos, ilustraciones, vectores y  vídeos de 4,599 | Adobe Stock">
            <a:extLst>
              <a:ext uri="{FF2B5EF4-FFF2-40B4-BE49-F238E27FC236}">
                <a16:creationId xmlns:a16="http://schemas.microsoft.com/office/drawing/2014/main" id="{44BF1DD4-516A-4A7C-B602-5E00718088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8087" y="3548559"/>
            <a:ext cx="3761235" cy="2507490"/>
          </a:xfrm>
          <a:prstGeom prst="rect">
            <a:avLst/>
          </a:prstGeom>
          <a:noFill/>
          <a:extLst>
            <a:ext uri="{909E8E84-426E-40DD-AFC4-6F175D3DCCD1}">
              <a14:hiddenFill xmlns:a14="http://schemas.microsoft.com/office/drawing/2010/main">
                <a:solidFill>
                  <a:srgbClr val="FFFFFF"/>
                </a:solidFill>
              </a14:hiddenFill>
            </a:ext>
          </a:extLst>
        </p:spPr>
      </p:pic>
      <p:pic>
        <p:nvPicPr>
          <p:cNvPr id="20" name="Imagen 19">
            <a:extLst>
              <a:ext uri="{FF2B5EF4-FFF2-40B4-BE49-F238E27FC236}">
                <a16:creationId xmlns:a16="http://schemas.microsoft.com/office/drawing/2014/main" id="{71C00054-E83B-AA58-C818-ED6BFF74DED4}"/>
              </a:ext>
            </a:extLst>
          </p:cNvPr>
          <p:cNvPicPr>
            <a:picLocks noChangeAspect="1"/>
          </p:cNvPicPr>
          <p:nvPr/>
        </p:nvPicPr>
        <p:blipFill>
          <a:blip r:embed="rId4"/>
          <a:stretch>
            <a:fillRect/>
          </a:stretch>
        </p:blipFill>
        <p:spPr>
          <a:xfrm>
            <a:off x="11087004" y="6505368"/>
            <a:ext cx="1104996" cy="2667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01154"/>
            <a:ext cx="10868745" cy="460375"/>
          </a:xfrm>
          <a:prstGeom prst="rect">
            <a:avLst/>
          </a:prstGeom>
          <a:noFill/>
          <a:ln/>
        </p:spPr>
        <p:txBody>
          <a:bodyPr wrap="none" lIns="0" tIns="0" rIns="0" bIns="0" rtlCol="0" anchor="t"/>
          <a:lstStyle/>
          <a:p>
            <a:pPr marL="0" indent="0" algn="l">
              <a:lnSpc>
                <a:spcPct val="104000"/>
              </a:lnSpc>
              <a:buNone/>
            </a:pPr>
            <a:r>
              <a:rPr lang="en-US" sz="2850" dirty="0">
                <a:solidFill>
                  <a:srgbClr val="1B1B27"/>
                </a:solidFill>
                <a:latin typeface="Raleway" pitchFamily="34" charset="0"/>
                <a:ea typeface="Raleway" pitchFamily="34" charset="-122"/>
                <a:cs typeface="Raleway" pitchFamily="34" charset="-120"/>
              </a:rPr>
              <a:t>Metodología y Herramientas</a:t>
            </a:r>
            <a:endParaRPr lang="en-US" sz="2850" dirty="0"/>
          </a:p>
        </p:txBody>
      </p:sp>
      <p:sp>
        <p:nvSpPr>
          <p:cNvPr id="3" name="Text 1"/>
          <p:cNvSpPr/>
          <p:nvPr/>
        </p:nvSpPr>
        <p:spPr>
          <a:xfrm>
            <a:off x="661475" y="1289447"/>
            <a:ext cx="4131861" cy="230187"/>
          </a:xfrm>
          <a:prstGeom prst="rect">
            <a:avLst/>
          </a:prstGeom>
          <a:noFill/>
          <a:ln/>
        </p:spPr>
        <p:txBody>
          <a:bodyPr wrap="none" lIns="0" tIns="0" rIns="0" bIns="0" rtlCol="0" anchor="t"/>
          <a:lstStyle/>
          <a:p>
            <a:pPr marL="0" indent="0" algn="l">
              <a:lnSpc>
                <a:spcPct val="104000"/>
              </a:lnSpc>
              <a:buNone/>
            </a:pPr>
            <a:r>
              <a:rPr lang="en-US" sz="1400" dirty="0">
                <a:solidFill>
                  <a:srgbClr val="1B1B27"/>
                </a:solidFill>
                <a:latin typeface="Raleway" pitchFamily="34" charset="0"/>
                <a:ea typeface="Raleway" pitchFamily="34" charset="-122"/>
                <a:cs typeface="Raleway" pitchFamily="34" charset="-120"/>
              </a:rPr>
              <a:t>Marco de Trabajo: Scrum</a:t>
            </a:r>
            <a:endParaRPr lang="en-US" sz="1400" dirty="0"/>
          </a:p>
        </p:txBody>
      </p:sp>
      <p:sp>
        <p:nvSpPr>
          <p:cNvPr id="4" name="Text 2"/>
          <p:cNvSpPr/>
          <p:nvPr/>
        </p:nvSpPr>
        <p:spPr>
          <a:xfrm>
            <a:off x="661475" y="1650802"/>
            <a:ext cx="4131861" cy="668536"/>
          </a:xfrm>
          <a:prstGeom prst="rect">
            <a:avLst/>
          </a:prstGeom>
          <a:noFill/>
          <a:ln/>
        </p:spPr>
        <p:txBody>
          <a:bodyPr wrap="square" lIns="0" tIns="0" rIns="0" bIns="0" rtlCol="0" anchor="t">
            <a:normAutofit/>
          </a:bodyPr>
          <a:lstStyle/>
          <a:p>
            <a:pPr marL="0" indent="0" algn="l">
              <a:lnSpc>
                <a:spcPct val="126000"/>
              </a:lnSpc>
              <a:buNone/>
            </a:pPr>
            <a:r>
              <a:rPr lang="en-US" sz="1150" dirty="0">
                <a:solidFill>
                  <a:srgbClr val="3C3939"/>
                </a:solidFill>
                <a:latin typeface="Roboto" pitchFamily="34" charset="0"/>
                <a:ea typeface="Roboto" pitchFamily="34" charset="-122"/>
                <a:cs typeface="Roboto" pitchFamily="34" charset="-120"/>
              </a:rPr>
              <a:t>El proyecto se regirá bajo un marco de trabajo Ágil, utilizando </a:t>
            </a:r>
            <a:r>
              <a:rPr lang="en-US" sz="1150" b="1" dirty="0">
                <a:solidFill>
                  <a:srgbClr val="3C3939"/>
                </a:solidFill>
                <a:latin typeface="Roboto Bold" pitchFamily="34" charset="0"/>
                <a:ea typeface="Roboto Bold" pitchFamily="34" charset="-122"/>
                <a:cs typeface="Roboto Bold" pitchFamily="34" charset="-120"/>
              </a:rPr>
              <a:t>Scrum</a:t>
            </a:r>
            <a:r>
              <a:rPr lang="en-US" sz="1150" dirty="0">
                <a:solidFill>
                  <a:srgbClr val="3C3939"/>
                </a:solidFill>
                <a:latin typeface="Roboto" pitchFamily="34" charset="0"/>
                <a:ea typeface="Roboto" pitchFamily="34" charset="-122"/>
                <a:cs typeface="Roboto" pitchFamily="34" charset="-120"/>
              </a:rPr>
              <a:t> para mantener un desarrollo iterativo e incremental con entregables funcionales al final de cada ciclo.</a:t>
            </a:r>
            <a:endParaRPr lang="en-US" sz="1150" dirty="0"/>
          </a:p>
        </p:txBody>
      </p:sp>
      <p:sp>
        <p:nvSpPr>
          <p:cNvPr id="5" name="Shape 3"/>
          <p:cNvSpPr/>
          <p:nvPr/>
        </p:nvSpPr>
        <p:spPr>
          <a:xfrm>
            <a:off x="661475" y="2466876"/>
            <a:ext cx="4131861" cy="1114227"/>
          </a:xfrm>
          <a:prstGeom prst="roundRect">
            <a:avLst>
              <a:gd name="adj" fmla="val 5552"/>
            </a:avLst>
          </a:prstGeom>
          <a:solidFill>
            <a:srgbClr val="E1E1EA"/>
          </a:solidFill>
          <a:ln w="6350">
            <a:solidFill>
              <a:srgbClr val="C7C7D0"/>
            </a:solidFill>
            <a:prstDash val="solid"/>
          </a:ln>
        </p:spPr>
      </p:sp>
      <p:sp>
        <p:nvSpPr>
          <p:cNvPr id="6" name="Text 4"/>
          <p:cNvSpPr/>
          <p:nvPr/>
        </p:nvSpPr>
        <p:spPr>
          <a:xfrm>
            <a:off x="815062" y="2620466"/>
            <a:ext cx="3824688" cy="230187"/>
          </a:xfrm>
          <a:prstGeom prst="rect">
            <a:avLst/>
          </a:prstGeom>
          <a:noFill/>
          <a:ln/>
        </p:spPr>
        <p:txBody>
          <a:bodyPr wrap="none" lIns="0" tIns="0" rIns="0" bIns="0" rtlCol="0" anchor="t"/>
          <a:lstStyle/>
          <a:p>
            <a:pPr marL="0" indent="0" algn="l">
              <a:lnSpc>
                <a:spcPct val="104000"/>
              </a:lnSpc>
              <a:buNone/>
            </a:pPr>
            <a:r>
              <a:rPr lang="en-US" sz="1400" dirty="0">
                <a:solidFill>
                  <a:srgbClr val="3C3939"/>
                </a:solidFill>
                <a:latin typeface="Raleway" pitchFamily="34" charset="0"/>
                <a:ea typeface="Raleway" pitchFamily="34" charset="-122"/>
                <a:cs typeface="Raleway" pitchFamily="34" charset="-120"/>
              </a:rPr>
              <a:t>Sprints</a:t>
            </a:r>
            <a:endParaRPr lang="en-US" sz="1400" dirty="0"/>
          </a:p>
        </p:txBody>
      </p:sp>
      <p:sp>
        <p:nvSpPr>
          <p:cNvPr id="7" name="Text 5"/>
          <p:cNvSpPr/>
          <p:nvPr/>
        </p:nvSpPr>
        <p:spPr>
          <a:xfrm>
            <a:off x="815062" y="2981821"/>
            <a:ext cx="3824688" cy="445691"/>
          </a:xfrm>
          <a:prstGeom prst="rect">
            <a:avLst/>
          </a:prstGeom>
          <a:noFill/>
          <a:ln/>
        </p:spPr>
        <p:txBody>
          <a:bodyPr wrap="square" lIns="0" tIns="0" rIns="0" bIns="0" rtlCol="0" anchor="t">
            <a:normAutofit/>
          </a:bodyPr>
          <a:lstStyle/>
          <a:p>
            <a:pPr marL="0" indent="0" algn="l">
              <a:lnSpc>
                <a:spcPct val="126000"/>
              </a:lnSpc>
              <a:buNone/>
            </a:pPr>
            <a:r>
              <a:rPr lang="en-US" sz="1150" dirty="0">
                <a:solidFill>
                  <a:srgbClr val="3C3939"/>
                </a:solidFill>
                <a:latin typeface="Roboto" pitchFamily="34" charset="0"/>
                <a:ea typeface="Roboto" pitchFamily="34" charset="-122"/>
                <a:cs typeface="Roboto" pitchFamily="34" charset="-120"/>
              </a:rPr>
              <a:t>Ciclos de </a:t>
            </a:r>
            <a:r>
              <a:rPr lang="en-US" sz="1150" b="1" dirty="0">
                <a:solidFill>
                  <a:srgbClr val="3C3939"/>
                </a:solidFill>
                <a:latin typeface="Roboto Bold" pitchFamily="34" charset="0"/>
                <a:ea typeface="Roboto Bold" pitchFamily="34" charset="-122"/>
                <a:cs typeface="Roboto Bold" pitchFamily="34" charset="-120"/>
              </a:rPr>
              <a:t>2 semanas</a:t>
            </a:r>
            <a:r>
              <a:rPr lang="en-US" sz="1150" dirty="0">
                <a:solidFill>
                  <a:srgbClr val="3C3939"/>
                </a:solidFill>
                <a:latin typeface="Roboto" pitchFamily="34" charset="0"/>
                <a:ea typeface="Roboto" pitchFamily="34" charset="-122"/>
                <a:cs typeface="Roboto" pitchFamily="34" charset="-120"/>
              </a:rPr>
              <a:t> con incremento de software funcional al cierre</a:t>
            </a:r>
            <a:endParaRPr lang="en-US" sz="1150" dirty="0"/>
          </a:p>
        </p:txBody>
      </p:sp>
      <p:sp>
        <p:nvSpPr>
          <p:cNvPr id="8" name="Shape 6"/>
          <p:cNvSpPr/>
          <p:nvPr/>
        </p:nvSpPr>
        <p:spPr>
          <a:xfrm>
            <a:off x="661475" y="3712270"/>
            <a:ext cx="4131861" cy="1114227"/>
          </a:xfrm>
          <a:prstGeom prst="roundRect">
            <a:avLst>
              <a:gd name="adj" fmla="val 5552"/>
            </a:avLst>
          </a:prstGeom>
          <a:solidFill>
            <a:srgbClr val="E1E1EA"/>
          </a:solidFill>
          <a:ln w="6350">
            <a:solidFill>
              <a:srgbClr val="C7C7D0"/>
            </a:solidFill>
            <a:prstDash val="solid"/>
          </a:ln>
        </p:spPr>
      </p:sp>
      <p:sp>
        <p:nvSpPr>
          <p:cNvPr id="9" name="Text 7"/>
          <p:cNvSpPr/>
          <p:nvPr/>
        </p:nvSpPr>
        <p:spPr>
          <a:xfrm>
            <a:off x="815062" y="3865860"/>
            <a:ext cx="3824688" cy="230187"/>
          </a:xfrm>
          <a:prstGeom prst="rect">
            <a:avLst/>
          </a:prstGeom>
          <a:noFill/>
          <a:ln/>
        </p:spPr>
        <p:txBody>
          <a:bodyPr wrap="none" lIns="0" tIns="0" rIns="0" bIns="0" rtlCol="0" anchor="t"/>
          <a:lstStyle/>
          <a:p>
            <a:pPr marL="0" indent="0" algn="l">
              <a:lnSpc>
                <a:spcPct val="104000"/>
              </a:lnSpc>
              <a:buNone/>
            </a:pPr>
            <a:r>
              <a:rPr lang="en-US" sz="1400" dirty="0">
                <a:solidFill>
                  <a:srgbClr val="3C3939"/>
                </a:solidFill>
                <a:latin typeface="Raleway" pitchFamily="34" charset="0"/>
                <a:ea typeface="Raleway" pitchFamily="34" charset="-122"/>
                <a:cs typeface="Raleway" pitchFamily="34" charset="-120"/>
              </a:rPr>
              <a:t>Ceremonias</a:t>
            </a:r>
            <a:endParaRPr lang="en-US" sz="1400" dirty="0"/>
          </a:p>
        </p:txBody>
      </p:sp>
      <p:sp>
        <p:nvSpPr>
          <p:cNvPr id="10" name="Text 8"/>
          <p:cNvSpPr/>
          <p:nvPr/>
        </p:nvSpPr>
        <p:spPr>
          <a:xfrm>
            <a:off x="815062" y="4227215"/>
            <a:ext cx="3824688" cy="445691"/>
          </a:xfrm>
          <a:prstGeom prst="rect">
            <a:avLst/>
          </a:prstGeom>
          <a:noFill/>
          <a:ln/>
        </p:spPr>
        <p:txBody>
          <a:bodyPr wrap="square" lIns="0" tIns="0" rIns="0" bIns="0" rtlCol="0" anchor="t">
            <a:normAutofit/>
          </a:bodyPr>
          <a:lstStyle/>
          <a:p>
            <a:pPr marL="0" indent="0" algn="l">
              <a:lnSpc>
                <a:spcPct val="126000"/>
              </a:lnSpc>
              <a:buNone/>
            </a:pPr>
            <a:r>
              <a:rPr lang="en-US" sz="1150" dirty="0">
                <a:solidFill>
                  <a:srgbClr val="3C3939"/>
                </a:solidFill>
                <a:latin typeface="Roboto" pitchFamily="34" charset="0"/>
                <a:ea typeface="Roboto" pitchFamily="34" charset="-122"/>
                <a:cs typeface="Roboto" pitchFamily="34" charset="-120"/>
              </a:rPr>
              <a:t>Planificación, sincronizaciones cortas y revisión al final de cada Sprint</a:t>
            </a:r>
            <a:endParaRPr lang="en-US" sz="1150" dirty="0"/>
          </a:p>
        </p:txBody>
      </p:sp>
      <p:sp>
        <p:nvSpPr>
          <p:cNvPr id="11" name="Text 9"/>
          <p:cNvSpPr/>
          <p:nvPr/>
        </p:nvSpPr>
        <p:spPr>
          <a:xfrm>
            <a:off x="5159047" y="1289447"/>
            <a:ext cx="6377423" cy="230187"/>
          </a:xfrm>
          <a:prstGeom prst="rect">
            <a:avLst/>
          </a:prstGeom>
          <a:noFill/>
          <a:ln/>
        </p:spPr>
        <p:txBody>
          <a:bodyPr wrap="none" lIns="0" tIns="0" rIns="0" bIns="0" rtlCol="0" anchor="t"/>
          <a:lstStyle/>
          <a:p>
            <a:pPr marL="0" indent="0" algn="l">
              <a:lnSpc>
                <a:spcPct val="104000"/>
              </a:lnSpc>
              <a:buNone/>
            </a:pPr>
            <a:r>
              <a:rPr lang="en-US" sz="1400" dirty="0">
                <a:solidFill>
                  <a:srgbClr val="1B1B27"/>
                </a:solidFill>
                <a:latin typeface="Raleway" pitchFamily="34" charset="0"/>
                <a:ea typeface="Raleway" pitchFamily="34" charset="-122"/>
                <a:cs typeface="Raleway" pitchFamily="34" charset="-120"/>
              </a:rPr>
              <a:t>Stack Tecnológico</a:t>
            </a:r>
            <a:endParaRPr lang="en-US" sz="1400" dirty="0"/>
          </a:p>
        </p:txBody>
      </p:sp>
      <p:pic>
        <p:nvPicPr>
          <p:cNvPr id="1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9047" y="1667173"/>
            <a:ext cx="368192" cy="368201"/>
          </a:xfrm>
          <a:prstGeom prst="rect">
            <a:avLst/>
          </a:prstGeom>
        </p:spPr>
      </p:pic>
      <p:sp>
        <p:nvSpPr>
          <p:cNvPr id="13" name="Text 10"/>
          <p:cNvSpPr/>
          <p:nvPr/>
        </p:nvSpPr>
        <p:spPr>
          <a:xfrm>
            <a:off x="5159047" y="2199283"/>
            <a:ext cx="6377423" cy="230187"/>
          </a:xfrm>
          <a:prstGeom prst="rect">
            <a:avLst/>
          </a:prstGeom>
          <a:noFill/>
          <a:ln/>
        </p:spPr>
        <p:txBody>
          <a:bodyPr wrap="none" lIns="0" tIns="0" rIns="0" bIns="0" rtlCol="0" anchor="t"/>
          <a:lstStyle/>
          <a:p>
            <a:pPr marL="0" indent="0" algn="l">
              <a:lnSpc>
                <a:spcPct val="104000"/>
              </a:lnSpc>
              <a:buNone/>
            </a:pPr>
            <a:r>
              <a:rPr lang="en-US" sz="1400" dirty="0">
                <a:solidFill>
                  <a:srgbClr val="3C3939"/>
                </a:solidFill>
                <a:latin typeface="Raleway" pitchFamily="34" charset="0"/>
                <a:ea typeface="Raleway" pitchFamily="34" charset="-122"/>
                <a:cs typeface="Raleway" pitchFamily="34" charset="-120"/>
              </a:rPr>
              <a:t>Flutter (Dart)</a:t>
            </a:r>
            <a:endParaRPr lang="en-US" sz="1400" dirty="0"/>
          </a:p>
        </p:txBody>
      </p:sp>
      <p:sp>
        <p:nvSpPr>
          <p:cNvPr id="14" name="Text 11"/>
          <p:cNvSpPr/>
          <p:nvPr/>
        </p:nvSpPr>
        <p:spPr>
          <a:xfrm>
            <a:off x="5159047" y="2560638"/>
            <a:ext cx="6377423" cy="445691"/>
          </a:xfrm>
          <a:prstGeom prst="rect">
            <a:avLst/>
          </a:prstGeom>
          <a:noFill/>
          <a:ln/>
        </p:spPr>
        <p:txBody>
          <a:bodyPr wrap="square" lIns="0" tIns="0" rIns="0" bIns="0" rtlCol="0" anchor="t">
            <a:normAutofit/>
          </a:bodyPr>
          <a:lstStyle/>
          <a:p>
            <a:pPr marL="0" indent="0" algn="l">
              <a:lnSpc>
                <a:spcPct val="126000"/>
              </a:lnSpc>
              <a:buNone/>
            </a:pPr>
            <a:r>
              <a:rPr lang="en-US" sz="1150" dirty="0">
                <a:solidFill>
                  <a:srgbClr val="3C3939"/>
                </a:solidFill>
                <a:latin typeface="Roboto" pitchFamily="34" charset="0"/>
                <a:ea typeface="Roboto" pitchFamily="34" charset="-122"/>
                <a:cs typeface="Roboto" pitchFamily="34" charset="-120"/>
              </a:rPr>
              <a:t>Frontend móvil. Compilación nativa en iOS y Android desde un único código base con rendimiento óptimo en lectura de hardware NFC.</a:t>
            </a:r>
            <a:endParaRPr lang="en-US" sz="1150" dirty="0"/>
          </a:p>
        </p:txBody>
      </p:sp>
      <p:pic>
        <p:nvPicPr>
          <p:cNvPr id="15"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59047" y="3268663"/>
            <a:ext cx="368192" cy="368201"/>
          </a:xfrm>
          <a:prstGeom prst="rect">
            <a:avLst/>
          </a:prstGeom>
        </p:spPr>
      </p:pic>
      <p:sp>
        <p:nvSpPr>
          <p:cNvPr id="16" name="Text 12"/>
          <p:cNvSpPr/>
          <p:nvPr/>
        </p:nvSpPr>
        <p:spPr>
          <a:xfrm>
            <a:off x="5159047" y="3800773"/>
            <a:ext cx="6377423" cy="230187"/>
          </a:xfrm>
          <a:prstGeom prst="rect">
            <a:avLst/>
          </a:prstGeom>
          <a:noFill/>
          <a:ln/>
        </p:spPr>
        <p:txBody>
          <a:bodyPr wrap="none" lIns="0" tIns="0" rIns="0" bIns="0" rtlCol="0" anchor="t"/>
          <a:lstStyle/>
          <a:p>
            <a:pPr marL="0" indent="0" algn="l">
              <a:lnSpc>
                <a:spcPct val="104000"/>
              </a:lnSpc>
              <a:buNone/>
            </a:pPr>
            <a:r>
              <a:rPr lang="en-US" sz="1400" dirty="0">
                <a:solidFill>
                  <a:srgbClr val="3C3939"/>
                </a:solidFill>
                <a:latin typeface="Raleway" pitchFamily="34" charset="0"/>
                <a:ea typeface="Raleway" pitchFamily="34" charset="-122"/>
                <a:cs typeface="Raleway" pitchFamily="34" charset="-120"/>
              </a:rPr>
              <a:t>Supabase (PostgreSQL)</a:t>
            </a:r>
            <a:endParaRPr lang="en-US" sz="1400" dirty="0"/>
          </a:p>
        </p:txBody>
      </p:sp>
      <p:sp>
        <p:nvSpPr>
          <p:cNvPr id="17" name="Text 13"/>
          <p:cNvSpPr/>
          <p:nvPr/>
        </p:nvSpPr>
        <p:spPr>
          <a:xfrm>
            <a:off x="5159047" y="4162127"/>
            <a:ext cx="6377423" cy="445691"/>
          </a:xfrm>
          <a:prstGeom prst="rect">
            <a:avLst/>
          </a:prstGeom>
          <a:noFill/>
          <a:ln/>
        </p:spPr>
        <p:txBody>
          <a:bodyPr wrap="square" lIns="0" tIns="0" rIns="0" bIns="0" rtlCol="0" anchor="t">
            <a:normAutofit/>
          </a:bodyPr>
          <a:lstStyle/>
          <a:p>
            <a:pPr marL="0" indent="0" algn="l">
              <a:lnSpc>
                <a:spcPct val="126000"/>
              </a:lnSpc>
              <a:buNone/>
            </a:pPr>
            <a:r>
              <a:rPr lang="en-US" sz="1150" dirty="0">
                <a:solidFill>
                  <a:srgbClr val="3C3939"/>
                </a:solidFill>
                <a:latin typeface="Roboto" pitchFamily="34" charset="0"/>
                <a:ea typeface="Roboto" pitchFamily="34" charset="-122"/>
                <a:cs typeface="Roboto" pitchFamily="34" charset="-120"/>
              </a:rPr>
              <a:t>Backend-as-a-Service. Motor relacional de alto rendimiento, autenticación integrada y políticas de seguridad a nivel de fila (RLS).</a:t>
            </a:r>
            <a:endParaRPr lang="en-US" sz="1150" dirty="0"/>
          </a:p>
        </p:txBody>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59047" y="4870152"/>
            <a:ext cx="368192" cy="368201"/>
          </a:xfrm>
          <a:prstGeom prst="rect">
            <a:avLst/>
          </a:prstGeom>
        </p:spPr>
      </p:pic>
      <p:sp>
        <p:nvSpPr>
          <p:cNvPr id="19" name="Text 14"/>
          <p:cNvSpPr/>
          <p:nvPr/>
        </p:nvSpPr>
        <p:spPr>
          <a:xfrm>
            <a:off x="5159047" y="5402263"/>
            <a:ext cx="6377423" cy="230187"/>
          </a:xfrm>
          <a:prstGeom prst="rect">
            <a:avLst/>
          </a:prstGeom>
          <a:noFill/>
          <a:ln/>
        </p:spPr>
        <p:txBody>
          <a:bodyPr wrap="none" lIns="0" tIns="0" rIns="0" bIns="0" rtlCol="0" anchor="t"/>
          <a:lstStyle/>
          <a:p>
            <a:pPr marL="0" indent="0" algn="l">
              <a:lnSpc>
                <a:spcPct val="104000"/>
              </a:lnSpc>
              <a:buNone/>
            </a:pPr>
            <a:r>
              <a:rPr lang="en-US" sz="1400" dirty="0">
                <a:solidFill>
                  <a:srgbClr val="3C3939"/>
                </a:solidFill>
                <a:latin typeface="Raleway" pitchFamily="34" charset="0"/>
                <a:ea typeface="Raleway" pitchFamily="34" charset="-122"/>
                <a:cs typeface="Raleway" pitchFamily="34" charset="-120"/>
              </a:rPr>
              <a:t>GitHub + Jira/Trello</a:t>
            </a:r>
            <a:endParaRPr lang="en-US" sz="1400" dirty="0"/>
          </a:p>
        </p:txBody>
      </p:sp>
      <p:sp>
        <p:nvSpPr>
          <p:cNvPr id="20" name="Text 15"/>
          <p:cNvSpPr/>
          <p:nvPr/>
        </p:nvSpPr>
        <p:spPr>
          <a:xfrm>
            <a:off x="5159047" y="5763617"/>
            <a:ext cx="6377423" cy="445691"/>
          </a:xfrm>
          <a:prstGeom prst="rect">
            <a:avLst/>
          </a:prstGeom>
          <a:noFill/>
          <a:ln/>
        </p:spPr>
        <p:txBody>
          <a:bodyPr wrap="square" lIns="0" tIns="0" rIns="0" bIns="0" rtlCol="0" anchor="t">
            <a:normAutofit/>
          </a:bodyPr>
          <a:lstStyle/>
          <a:p>
            <a:pPr marL="0" indent="0" algn="l">
              <a:lnSpc>
                <a:spcPct val="126000"/>
              </a:lnSpc>
              <a:buNone/>
            </a:pPr>
            <a:r>
              <a:rPr lang="en-US" sz="1150" dirty="0">
                <a:solidFill>
                  <a:srgbClr val="3C3939"/>
                </a:solidFill>
                <a:latin typeface="Roboto" pitchFamily="34" charset="0"/>
                <a:ea typeface="Roboto" pitchFamily="34" charset="-122"/>
                <a:cs typeface="Roboto" pitchFamily="34" charset="-120"/>
              </a:rPr>
              <a:t>Control de versiones descentralizado y administración del Product Backlog con seguimiento visual mediante tableros Kanban.</a:t>
            </a:r>
            <a:endParaRPr lang="en-US" sz="1150" dirty="0"/>
          </a:p>
        </p:txBody>
      </p:sp>
      <p:pic>
        <p:nvPicPr>
          <p:cNvPr id="22" name="Imagen 21">
            <a:extLst>
              <a:ext uri="{FF2B5EF4-FFF2-40B4-BE49-F238E27FC236}">
                <a16:creationId xmlns:a16="http://schemas.microsoft.com/office/drawing/2014/main" id="{12BBC281-8303-3291-3871-F9038494F962}"/>
              </a:ext>
            </a:extLst>
          </p:cNvPr>
          <p:cNvPicPr>
            <a:picLocks noChangeAspect="1"/>
          </p:cNvPicPr>
          <p:nvPr/>
        </p:nvPicPr>
        <p:blipFill>
          <a:blip r:embed="rId9"/>
          <a:stretch>
            <a:fillRect/>
          </a:stretch>
        </p:blipFill>
        <p:spPr>
          <a:xfrm>
            <a:off x="11087004" y="6591277"/>
            <a:ext cx="1104996" cy="2667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469702"/>
            <a:ext cx="10868745" cy="452239"/>
          </a:xfrm>
          <a:prstGeom prst="rect">
            <a:avLst/>
          </a:prstGeom>
          <a:noFill/>
          <a:ln/>
        </p:spPr>
        <p:txBody>
          <a:bodyPr wrap="none" lIns="0" tIns="0" rIns="0" bIns="0" rtlCol="0" anchor="t"/>
          <a:lstStyle/>
          <a:p>
            <a:pPr marL="0" indent="0" algn="l">
              <a:lnSpc>
                <a:spcPct val="104000"/>
              </a:lnSpc>
              <a:buNone/>
            </a:pPr>
            <a:r>
              <a:rPr lang="en-US" sz="2800" dirty="0">
                <a:solidFill>
                  <a:srgbClr val="1B1B27"/>
                </a:solidFill>
                <a:latin typeface="Raleway" pitchFamily="34" charset="0"/>
                <a:ea typeface="Raleway" pitchFamily="34" charset="-122"/>
                <a:cs typeface="Raleway" pitchFamily="34" charset="-120"/>
              </a:rPr>
              <a:t>Plan de Trabajo — Cronograma de 16 Semanas</a:t>
            </a:r>
            <a:endParaRPr lang="en-US" sz="2800" dirty="0"/>
          </a:p>
        </p:txBody>
      </p:sp>
      <p:pic>
        <p:nvPicPr>
          <p:cNvPr id="3" name="Image 0" descr="preencoded.png"/>
          <p:cNvPicPr>
            <a:picLocks noChangeAspect="1"/>
          </p:cNvPicPr>
          <p:nvPr/>
        </p:nvPicPr>
        <p:blipFill>
          <a:blip r:embed="rId3"/>
          <a:stretch>
            <a:fillRect/>
          </a:stretch>
        </p:blipFill>
        <p:spPr>
          <a:xfrm>
            <a:off x="661475" y="1175147"/>
            <a:ext cx="10868745" cy="2979837"/>
          </a:xfrm>
          <a:prstGeom prst="rect">
            <a:avLst/>
          </a:prstGeom>
        </p:spPr>
      </p:pic>
      <p:sp>
        <p:nvSpPr>
          <p:cNvPr id="4" name="Text 1"/>
          <p:cNvSpPr/>
          <p:nvPr/>
        </p:nvSpPr>
        <p:spPr>
          <a:xfrm>
            <a:off x="1971672" y="2251916"/>
            <a:ext cx="1642425" cy="294085"/>
          </a:xfrm>
          <a:prstGeom prst="rect">
            <a:avLst/>
          </a:prstGeom>
          <a:noFill/>
          <a:ln/>
        </p:spPr>
        <p:txBody>
          <a:bodyPr wrap="none" lIns="0" tIns="0" rIns="0" bIns="0" rtlCol="0" anchor="t"/>
          <a:lstStyle/>
          <a:p>
            <a:pPr marL="0" indent="0" algn="ctr">
              <a:lnSpc>
                <a:spcPct val="104000"/>
              </a:lnSpc>
              <a:buNone/>
            </a:pPr>
            <a:r>
              <a:rPr lang="en-US" sz="1850" dirty="0">
                <a:solidFill>
                  <a:srgbClr val="3C3939"/>
                </a:solidFill>
                <a:latin typeface="Raleway" pitchFamily="34" charset="0"/>
                <a:ea typeface="Raleway" pitchFamily="34" charset="-122"/>
                <a:cs typeface="Raleway" pitchFamily="34" charset="-120"/>
              </a:rPr>
              <a:t>Fase 1</a:t>
            </a:r>
            <a:endParaRPr lang="en-US" sz="1850" dirty="0"/>
          </a:p>
        </p:txBody>
      </p:sp>
      <p:sp>
        <p:nvSpPr>
          <p:cNvPr id="5" name="Text 2"/>
          <p:cNvSpPr/>
          <p:nvPr/>
        </p:nvSpPr>
        <p:spPr>
          <a:xfrm>
            <a:off x="1971672" y="2629652"/>
            <a:ext cx="1642425" cy="661692"/>
          </a:xfrm>
          <a:prstGeom prst="rect">
            <a:avLst/>
          </a:prstGeom>
          <a:noFill/>
          <a:ln/>
        </p:spPr>
        <p:txBody>
          <a:bodyPr wrap="square" lIns="0" tIns="0" rIns="0" bIns="0" rtlCol="0" anchor="t">
            <a:normAutofit/>
          </a:bodyPr>
          <a:lstStyle/>
          <a:p>
            <a:pPr marL="0" indent="0" algn="ctr">
              <a:lnSpc>
                <a:spcPct val="98000"/>
              </a:lnSpc>
              <a:buNone/>
            </a:pPr>
            <a:r>
              <a:rPr lang="en-US" sz="1450" dirty="0">
                <a:solidFill>
                  <a:srgbClr val="3C3939"/>
                </a:solidFill>
                <a:latin typeface="Roboto" pitchFamily="34" charset="0"/>
                <a:ea typeface="Roboto" pitchFamily="34" charset="-122"/>
                <a:cs typeface="Roboto" pitchFamily="34" charset="-120"/>
              </a:rPr>
              <a:t>Semanas 1–4: Diseño y arquitectura</a:t>
            </a:r>
            <a:endParaRPr lang="en-US" sz="1450" dirty="0"/>
          </a:p>
        </p:txBody>
      </p:sp>
      <p:sp>
        <p:nvSpPr>
          <p:cNvPr id="6" name="Text 3"/>
          <p:cNvSpPr/>
          <p:nvPr/>
        </p:nvSpPr>
        <p:spPr>
          <a:xfrm>
            <a:off x="4188366" y="2363669"/>
            <a:ext cx="1642425" cy="294085"/>
          </a:xfrm>
          <a:prstGeom prst="rect">
            <a:avLst/>
          </a:prstGeom>
          <a:noFill/>
          <a:ln/>
        </p:spPr>
        <p:txBody>
          <a:bodyPr wrap="none" lIns="0" tIns="0" rIns="0" bIns="0" rtlCol="0" anchor="t"/>
          <a:lstStyle/>
          <a:p>
            <a:pPr marL="0" indent="0" algn="ctr">
              <a:lnSpc>
                <a:spcPct val="104000"/>
              </a:lnSpc>
              <a:buNone/>
            </a:pPr>
            <a:r>
              <a:rPr lang="en-US" sz="1850" dirty="0">
                <a:solidFill>
                  <a:srgbClr val="1B1B27"/>
                </a:solidFill>
                <a:latin typeface="Raleway" pitchFamily="34" charset="0"/>
                <a:ea typeface="Raleway" pitchFamily="34" charset="-122"/>
                <a:cs typeface="Raleway" pitchFamily="34" charset="-120"/>
              </a:rPr>
              <a:t>Fase 2</a:t>
            </a:r>
            <a:endParaRPr lang="en-US" sz="1850" dirty="0"/>
          </a:p>
        </p:txBody>
      </p:sp>
      <p:sp>
        <p:nvSpPr>
          <p:cNvPr id="7" name="Text 4"/>
          <p:cNvSpPr/>
          <p:nvPr/>
        </p:nvSpPr>
        <p:spPr>
          <a:xfrm>
            <a:off x="4188366" y="2741405"/>
            <a:ext cx="1642425" cy="441128"/>
          </a:xfrm>
          <a:prstGeom prst="rect">
            <a:avLst/>
          </a:prstGeom>
          <a:noFill/>
          <a:ln/>
        </p:spPr>
        <p:txBody>
          <a:bodyPr wrap="square" lIns="0" tIns="0" rIns="0" bIns="0" rtlCol="0" anchor="t">
            <a:normAutofit/>
          </a:bodyPr>
          <a:lstStyle/>
          <a:p>
            <a:pPr marL="0" indent="0" algn="ctr">
              <a:lnSpc>
                <a:spcPct val="98000"/>
              </a:lnSpc>
              <a:buNone/>
            </a:pPr>
            <a:r>
              <a:rPr lang="en-US" sz="1450" dirty="0">
                <a:solidFill>
                  <a:srgbClr val="3C3939"/>
                </a:solidFill>
                <a:latin typeface="Roboto" pitchFamily="34" charset="0"/>
                <a:ea typeface="Roboto" pitchFamily="34" charset="-122"/>
                <a:cs typeface="Roboto" pitchFamily="34" charset="-120"/>
              </a:rPr>
              <a:t>Semanas 5–8: Desarrollo core</a:t>
            </a:r>
            <a:endParaRPr lang="en-US" sz="1450" dirty="0"/>
          </a:p>
        </p:txBody>
      </p:sp>
      <p:sp>
        <p:nvSpPr>
          <p:cNvPr id="8" name="Text 5"/>
          <p:cNvSpPr/>
          <p:nvPr/>
        </p:nvSpPr>
        <p:spPr>
          <a:xfrm>
            <a:off x="6446884" y="2251916"/>
            <a:ext cx="1642425" cy="294085"/>
          </a:xfrm>
          <a:prstGeom prst="rect">
            <a:avLst/>
          </a:prstGeom>
          <a:noFill/>
          <a:ln/>
        </p:spPr>
        <p:txBody>
          <a:bodyPr wrap="none" lIns="0" tIns="0" rIns="0" bIns="0" rtlCol="0" anchor="t"/>
          <a:lstStyle/>
          <a:p>
            <a:pPr marL="0" indent="0" algn="ctr">
              <a:lnSpc>
                <a:spcPct val="104000"/>
              </a:lnSpc>
              <a:buNone/>
            </a:pPr>
            <a:r>
              <a:rPr lang="en-US" sz="1850" dirty="0">
                <a:solidFill>
                  <a:srgbClr val="1B1B27"/>
                </a:solidFill>
                <a:latin typeface="Raleway" pitchFamily="34" charset="0"/>
                <a:ea typeface="Raleway" pitchFamily="34" charset="-122"/>
                <a:cs typeface="Raleway" pitchFamily="34" charset="-120"/>
              </a:rPr>
              <a:t>Fase 3</a:t>
            </a:r>
            <a:endParaRPr lang="en-US" sz="1850" dirty="0"/>
          </a:p>
        </p:txBody>
      </p:sp>
      <p:sp>
        <p:nvSpPr>
          <p:cNvPr id="9" name="Text 6"/>
          <p:cNvSpPr/>
          <p:nvPr/>
        </p:nvSpPr>
        <p:spPr>
          <a:xfrm>
            <a:off x="6446884" y="2629652"/>
            <a:ext cx="1642425" cy="441128"/>
          </a:xfrm>
          <a:prstGeom prst="rect">
            <a:avLst/>
          </a:prstGeom>
          <a:noFill/>
          <a:ln/>
        </p:spPr>
        <p:txBody>
          <a:bodyPr wrap="square" lIns="0" tIns="0" rIns="0" bIns="0" rtlCol="0" anchor="t">
            <a:normAutofit/>
          </a:bodyPr>
          <a:lstStyle/>
          <a:p>
            <a:pPr marL="0" indent="0" algn="ctr">
              <a:lnSpc>
                <a:spcPct val="98000"/>
              </a:lnSpc>
              <a:buNone/>
            </a:pPr>
            <a:r>
              <a:rPr lang="en-US" sz="1450" dirty="0">
                <a:solidFill>
                  <a:srgbClr val="3C3939"/>
                </a:solidFill>
                <a:latin typeface="Roboto" pitchFamily="34" charset="0"/>
                <a:ea typeface="Roboto" pitchFamily="34" charset="-122"/>
                <a:cs typeface="Roboto" pitchFamily="34" charset="-120"/>
              </a:rPr>
              <a:t>Semanas 9–12: Lógica compleja</a:t>
            </a:r>
            <a:endParaRPr lang="en-US" sz="1450" dirty="0"/>
          </a:p>
        </p:txBody>
      </p:sp>
      <p:sp>
        <p:nvSpPr>
          <p:cNvPr id="10" name="Text 7"/>
          <p:cNvSpPr/>
          <p:nvPr/>
        </p:nvSpPr>
        <p:spPr>
          <a:xfrm>
            <a:off x="8684489" y="2143105"/>
            <a:ext cx="1642425" cy="294085"/>
          </a:xfrm>
          <a:prstGeom prst="rect">
            <a:avLst/>
          </a:prstGeom>
          <a:noFill/>
          <a:ln/>
        </p:spPr>
        <p:txBody>
          <a:bodyPr wrap="none" lIns="0" tIns="0" rIns="0" bIns="0" rtlCol="0" anchor="t"/>
          <a:lstStyle/>
          <a:p>
            <a:pPr marL="0" indent="0" algn="ctr">
              <a:lnSpc>
                <a:spcPct val="104000"/>
              </a:lnSpc>
              <a:buNone/>
            </a:pPr>
            <a:r>
              <a:rPr lang="en-US" sz="1850" dirty="0">
                <a:solidFill>
                  <a:srgbClr val="1B1B27"/>
                </a:solidFill>
                <a:latin typeface="Raleway" pitchFamily="34" charset="0"/>
                <a:ea typeface="Raleway" pitchFamily="34" charset="-122"/>
                <a:cs typeface="Raleway" pitchFamily="34" charset="-120"/>
              </a:rPr>
              <a:t>Fase 4</a:t>
            </a:r>
            <a:endParaRPr lang="en-US" sz="1850" dirty="0"/>
          </a:p>
        </p:txBody>
      </p:sp>
      <p:sp>
        <p:nvSpPr>
          <p:cNvPr id="11" name="Text 8"/>
          <p:cNvSpPr/>
          <p:nvPr/>
        </p:nvSpPr>
        <p:spPr>
          <a:xfrm>
            <a:off x="8684489" y="2520841"/>
            <a:ext cx="1642425" cy="661692"/>
          </a:xfrm>
          <a:prstGeom prst="rect">
            <a:avLst/>
          </a:prstGeom>
          <a:noFill/>
          <a:ln/>
        </p:spPr>
        <p:txBody>
          <a:bodyPr wrap="square" lIns="0" tIns="0" rIns="0" bIns="0" rtlCol="0" anchor="t">
            <a:normAutofit/>
          </a:bodyPr>
          <a:lstStyle/>
          <a:p>
            <a:pPr marL="0" indent="0" algn="ctr">
              <a:lnSpc>
                <a:spcPct val="98000"/>
              </a:lnSpc>
              <a:buNone/>
            </a:pPr>
            <a:r>
              <a:rPr lang="en-US" sz="1450" dirty="0">
                <a:solidFill>
                  <a:srgbClr val="3C3939"/>
                </a:solidFill>
                <a:latin typeface="Roboto" pitchFamily="34" charset="0"/>
                <a:ea typeface="Roboto" pitchFamily="34" charset="-122"/>
                <a:cs typeface="Roboto" pitchFamily="34" charset="-120"/>
              </a:rPr>
              <a:t>Semanas 13–16: Pruebas y despliegue</a:t>
            </a:r>
            <a:endParaRPr lang="en-US" sz="1450" dirty="0"/>
          </a:p>
        </p:txBody>
      </p:sp>
      <p:sp>
        <p:nvSpPr>
          <p:cNvPr id="12" name="Text 9"/>
          <p:cNvSpPr/>
          <p:nvPr/>
        </p:nvSpPr>
        <p:spPr>
          <a:xfrm>
            <a:off x="661475" y="4480123"/>
            <a:ext cx="5355198" cy="226020"/>
          </a:xfrm>
          <a:prstGeom prst="rect">
            <a:avLst/>
          </a:prstGeom>
          <a:noFill/>
          <a:ln/>
        </p:spPr>
        <p:txBody>
          <a:bodyPr wrap="none" lIns="0" tIns="0" rIns="0" bIns="0" rtlCol="0" anchor="t"/>
          <a:lstStyle/>
          <a:p>
            <a:pPr marL="0" indent="0" algn="l">
              <a:lnSpc>
                <a:spcPct val="104000"/>
              </a:lnSpc>
              <a:buNone/>
            </a:pPr>
            <a:r>
              <a:rPr lang="en-US" sz="1400" dirty="0">
                <a:solidFill>
                  <a:srgbClr val="3C3939"/>
                </a:solidFill>
                <a:latin typeface="Raleway" pitchFamily="34" charset="0"/>
                <a:ea typeface="Raleway" pitchFamily="34" charset="-122"/>
                <a:cs typeface="Raleway" pitchFamily="34" charset="-120"/>
              </a:rPr>
              <a:t>Fase 1 — Semanas 1–4</a:t>
            </a:r>
            <a:endParaRPr lang="en-US" sz="1400" dirty="0"/>
          </a:p>
        </p:txBody>
      </p:sp>
      <p:sp>
        <p:nvSpPr>
          <p:cNvPr id="13" name="Text 10"/>
          <p:cNvSpPr/>
          <p:nvPr/>
        </p:nvSpPr>
        <p:spPr>
          <a:xfrm>
            <a:off x="661475" y="4782046"/>
            <a:ext cx="5355198" cy="434181"/>
          </a:xfrm>
          <a:prstGeom prst="rect">
            <a:avLst/>
          </a:prstGeom>
          <a:noFill/>
          <a:ln/>
        </p:spPr>
        <p:txBody>
          <a:bodyPr wrap="square" lIns="0" tIns="0" rIns="0" bIns="0" rtlCol="0" anchor="t">
            <a:normAutofit/>
          </a:bodyPr>
          <a:lstStyle/>
          <a:p>
            <a:pPr marL="0" indent="0" algn="l">
              <a:lnSpc>
                <a:spcPct val="125000"/>
              </a:lnSpc>
              <a:buNone/>
            </a:pPr>
            <a:r>
              <a:rPr lang="en-US" sz="1100" b="1" dirty="0">
                <a:solidFill>
                  <a:srgbClr val="3C3939"/>
                </a:solidFill>
                <a:latin typeface="Roboto Bold" pitchFamily="34" charset="0"/>
                <a:ea typeface="Roboto Bold" pitchFamily="34" charset="-122"/>
                <a:cs typeface="Roboto Bold" pitchFamily="34" charset="-120"/>
              </a:rPr>
              <a:t>Diseño y Arquitectura.</a:t>
            </a:r>
            <a:r>
              <a:rPr lang="en-US" sz="1100" dirty="0">
                <a:solidFill>
                  <a:srgbClr val="3C3939"/>
                </a:solidFill>
                <a:latin typeface="Roboto" pitchFamily="34" charset="0"/>
                <a:ea typeface="Roboto" pitchFamily="34" charset="-122"/>
                <a:cs typeface="Roboto" pitchFamily="34" charset="-120"/>
              </a:rPr>
              <a:t> Levantamiento de RF/RNF, diseño de base de datos en Supabase y configuración de repositorios GitHub.</a:t>
            </a:r>
            <a:endParaRPr lang="en-US" sz="1100" dirty="0"/>
          </a:p>
        </p:txBody>
      </p:sp>
      <p:sp>
        <p:nvSpPr>
          <p:cNvPr id="14" name="Text 11"/>
          <p:cNvSpPr/>
          <p:nvPr/>
        </p:nvSpPr>
        <p:spPr>
          <a:xfrm>
            <a:off x="6174923" y="4480123"/>
            <a:ext cx="5355297" cy="226020"/>
          </a:xfrm>
          <a:prstGeom prst="rect">
            <a:avLst/>
          </a:prstGeom>
          <a:noFill/>
          <a:ln/>
        </p:spPr>
        <p:txBody>
          <a:bodyPr wrap="none" lIns="0" tIns="0" rIns="0" bIns="0" rtlCol="0" anchor="t"/>
          <a:lstStyle/>
          <a:p>
            <a:pPr marL="0" indent="0" algn="l">
              <a:lnSpc>
                <a:spcPct val="104000"/>
              </a:lnSpc>
              <a:buNone/>
            </a:pPr>
            <a:r>
              <a:rPr lang="en-US" sz="1400" dirty="0">
                <a:solidFill>
                  <a:srgbClr val="3C3939"/>
                </a:solidFill>
                <a:latin typeface="Raleway" pitchFamily="34" charset="0"/>
                <a:ea typeface="Raleway" pitchFamily="34" charset="-122"/>
                <a:cs typeface="Raleway" pitchFamily="34" charset="-120"/>
              </a:rPr>
              <a:t>Fase 2 — Semanas 5–8</a:t>
            </a:r>
            <a:endParaRPr lang="en-US" sz="1400" dirty="0"/>
          </a:p>
        </p:txBody>
      </p:sp>
      <p:sp>
        <p:nvSpPr>
          <p:cNvPr id="15" name="Text 12"/>
          <p:cNvSpPr/>
          <p:nvPr/>
        </p:nvSpPr>
        <p:spPr>
          <a:xfrm>
            <a:off x="6174923" y="4782046"/>
            <a:ext cx="5355297" cy="434181"/>
          </a:xfrm>
          <a:prstGeom prst="rect">
            <a:avLst/>
          </a:prstGeom>
          <a:noFill/>
          <a:ln/>
        </p:spPr>
        <p:txBody>
          <a:bodyPr wrap="square" lIns="0" tIns="0" rIns="0" bIns="0" rtlCol="0" anchor="t">
            <a:normAutofit/>
          </a:bodyPr>
          <a:lstStyle/>
          <a:p>
            <a:pPr marL="0" indent="0" algn="l">
              <a:lnSpc>
                <a:spcPct val="125000"/>
              </a:lnSpc>
              <a:buNone/>
            </a:pPr>
            <a:r>
              <a:rPr lang="en-US" sz="1100" b="1" dirty="0">
                <a:solidFill>
                  <a:srgbClr val="3C3939"/>
                </a:solidFill>
                <a:latin typeface="Roboto Bold" pitchFamily="34" charset="0"/>
                <a:ea typeface="Roboto Bold" pitchFamily="34" charset="-122"/>
                <a:cs typeface="Roboto Bold" pitchFamily="34" charset="-120"/>
              </a:rPr>
              <a:t>Desarrollo Core.</a:t>
            </a:r>
            <a:r>
              <a:rPr lang="en-US" sz="1100" dirty="0">
                <a:solidFill>
                  <a:srgbClr val="3C3939"/>
                </a:solidFill>
                <a:latin typeface="Roboto" pitchFamily="34" charset="0"/>
                <a:ea typeface="Roboto" pitchFamily="34" charset="-122"/>
                <a:cs typeface="Roboto" pitchFamily="34" charset="-120"/>
              </a:rPr>
              <a:t> Programación del módulo de lectura NFC en Flutter y conexión con la base de datos para transacciones (CRUD financiero).</a:t>
            </a:r>
            <a:endParaRPr lang="en-US" sz="1100" dirty="0"/>
          </a:p>
        </p:txBody>
      </p:sp>
      <p:sp>
        <p:nvSpPr>
          <p:cNvPr id="16" name="Text 13"/>
          <p:cNvSpPr/>
          <p:nvPr/>
        </p:nvSpPr>
        <p:spPr>
          <a:xfrm>
            <a:off x="661475" y="5652195"/>
            <a:ext cx="5355198" cy="226020"/>
          </a:xfrm>
          <a:prstGeom prst="rect">
            <a:avLst/>
          </a:prstGeom>
          <a:noFill/>
          <a:ln/>
        </p:spPr>
        <p:txBody>
          <a:bodyPr wrap="none" lIns="0" tIns="0" rIns="0" bIns="0" rtlCol="0" anchor="t"/>
          <a:lstStyle/>
          <a:p>
            <a:pPr marL="0" indent="0" algn="l">
              <a:lnSpc>
                <a:spcPct val="104000"/>
              </a:lnSpc>
              <a:buNone/>
            </a:pPr>
            <a:r>
              <a:rPr lang="en-US" sz="1400" dirty="0">
                <a:solidFill>
                  <a:srgbClr val="3C3939"/>
                </a:solidFill>
                <a:latin typeface="Raleway" pitchFamily="34" charset="0"/>
                <a:ea typeface="Raleway" pitchFamily="34" charset="-122"/>
                <a:cs typeface="Raleway" pitchFamily="34" charset="-120"/>
              </a:rPr>
              <a:t>Fase 3 — Semanas 9–12</a:t>
            </a:r>
            <a:endParaRPr lang="en-US" sz="1400" dirty="0"/>
          </a:p>
        </p:txBody>
      </p:sp>
      <p:sp>
        <p:nvSpPr>
          <p:cNvPr id="17" name="Text 14"/>
          <p:cNvSpPr/>
          <p:nvPr/>
        </p:nvSpPr>
        <p:spPr>
          <a:xfrm>
            <a:off x="661475" y="5954117"/>
            <a:ext cx="5355198" cy="434181"/>
          </a:xfrm>
          <a:prstGeom prst="rect">
            <a:avLst/>
          </a:prstGeom>
          <a:noFill/>
          <a:ln/>
        </p:spPr>
        <p:txBody>
          <a:bodyPr wrap="square" lIns="0" tIns="0" rIns="0" bIns="0" rtlCol="0" anchor="t">
            <a:normAutofit/>
          </a:bodyPr>
          <a:lstStyle/>
          <a:p>
            <a:pPr marL="0" indent="0" algn="l">
              <a:lnSpc>
                <a:spcPct val="125000"/>
              </a:lnSpc>
              <a:buNone/>
            </a:pPr>
            <a:r>
              <a:rPr lang="en-US" sz="1100" b="1" dirty="0">
                <a:solidFill>
                  <a:srgbClr val="3C3939"/>
                </a:solidFill>
                <a:latin typeface="Roboto Bold" pitchFamily="34" charset="0"/>
                <a:ea typeface="Roboto Bold" pitchFamily="34" charset="-122"/>
                <a:cs typeface="Roboto Bold" pitchFamily="34" charset="-120"/>
              </a:rPr>
              <a:t>Lógica Compleja.</a:t>
            </a:r>
            <a:r>
              <a:rPr lang="en-US" sz="1100" dirty="0">
                <a:solidFill>
                  <a:srgbClr val="3C3939"/>
                </a:solidFill>
                <a:latin typeface="Roboto" pitchFamily="34" charset="0"/>
                <a:ea typeface="Roboto" pitchFamily="34" charset="-122"/>
                <a:cs typeface="Roboto" pitchFamily="34" charset="-120"/>
              </a:rPr>
              <a:t> Implementación del sistema offline-first, cifrado local y motor de alertas de deuda.</a:t>
            </a:r>
            <a:endParaRPr lang="en-US" sz="1100" dirty="0"/>
          </a:p>
        </p:txBody>
      </p:sp>
      <p:sp>
        <p:nvSpPr>
          <p:cNvPr id="18" name="Text 15"/>
          <p:cNvSpPr/>
          <p:nvPr/>
        </p:nvSpPr>
        <p:spPr>
          <a:xfrm>
            <a:off x="6174923" y="5652195"/>
            <a:ext cx="5355297" cy="226020"/>
          </a:xfrm>
          <a:prstGeom prst="rect">
            <a:avLst/>
          </a:prstGeom>
          <a:noFill/>
          <a:ln/>
        </p:spPr>
        <p:txBody>
          <a:bodyPr wrap="none" lIns="0" tIns="0" rIns="0" bIns="0" rtlCol="0" anchor="t"/>
          <a:lstStyle/>
          <a:p>
            <a:pPr marL="0" indent="0" algn="l">
              <a:lnSpc>
                <a:spcPct val="104000"/>
              </a:lnSpc>
              <a:buNone/>
            </a:pPr>
            <a:r>
              <a:rPr lang="en-US" sz="1400" dirty="0">
                <a:solidFill>
                  <a:srgbClr val="3C3939"/>
                </a:solidFill>
                <a:latin typeface="Raleway" pitchFamily="34" charset="0"/>
                <a:ea typeface="Raleway" pitchFamily="34" charset="-122"/>
                <a:cs typeface="Raleway" pitchFamily="34" charset="-120"/>
              </a:rPr>
              <a:t>Fase 4 — Semanas 13–16</a:t>
            </a:r>
            <a:endParaRPr lang="en-US" sz="1400" dirty="0"/>
          </a:p>
        </p:txBody>
      </p:sp>
      <p:sp>
        <p:nvSpPr>
          <p:cNvPr id="19" name="Text 16"/>
          <p:cNvSpPr/>
          <p:nvPr/>
        </p:nvSpPr>
        <p:spPr>
          <a:xfrm>
            <a:off x="6174923" y="5954117"/>
            <a:ext cx="5355297" cy="434181"/>
          </a:xfrm>
          <a:prstGeom prst="rect">
            <a:avLst/>
          </a:prstGeom>
          <a:noFill/>
          <a:ln/>
        </p:spPr>
        <p:txBody>
          <a:bodyPr wrap="square" lIns="0" tIns="0" rIns="0" bIns="0" rtlCol="0" anchor="t">
            <a:normAutofit/>
          </a:bodyPr>
          <a:lstStyle/>
          <a:p>
            <a:pPr marL="0" indent="0" algn="l">
              <a:lnSpc>
                <a:spcPct val="125000"/>
              </a:lnSpc>
              <a:buNone/>
            </a:pPr>
            <a:r>
              <a:rPr lang="en-US" sz="1100" b="1" dirty="0">
                <a:solidFill>
                  <a:srgbClr val="3C3939"/>
                </a:solidFill>
                <a:latin typeface="Roboto Bold" pitchFamily="34" charset="0"/>
                <a:ea typeface="Roboto Bold" pitchFamily="34" charset="-122"/>
                <a:cs typeface="Roboto Bold" pitchFamily="34" charset="-120"/>
              </a:rPr>
              <a:t>Pruebas y Despliegue.</a:t>
            </a:r>
            <a:r>
              <a:rPr lang="en-US" sz="1100" dirty="0">
                <a:solidFill>
                  <a:srgbClr val="3C3939"/>
                </a:solidFill>
                <a:latin typeface="Roboto" pitchFamily="34" charset="0"/>
                <a:ea typeface="Roboto" pitchFamily="34" charset="-122"/>
                <a:cs typeface="Roboto" pitchFamily="34" charset="-120"/>
              </a:rPr>
              <a:t> Piloto en terreno, corrección de bugs y entrega final del producto.</a:t>
            </a:r>
            <a:endParaRPr lang="en-US" sz="1100" dirty="0"/>
          </a:p>
        </p:txBody>
      </p:sp>
      <p:sp>
        <p:nvSpPr>
          <p:cNvPr id="20" name="Shape 17"/>
          <p:cNvSpPr/>
          <p:nvPr/>
        </p:nvSpPr>
        <p:spPr>
          <a:xfrm>
            <a:off x="642425" y="4297363"/>
            <a:ext cx="5393297" cy="38100"/>
          </a:xfrm>
          <a:prstGeom prst="rect">
            <a:avLst/>
          </a:prstGeom>
          <a:solidFill>
            <a:srgbClr val="1B1B27"/>
          </a:solidFill>
          <a:ln/>
        </p:spPr>
      </p:sp>
      <p:sp>
        <p:nvSpPr>
          <p:cNvPr id="21" name="Shape 18"/>
          <p:cNvSpPr/>
          <p:nvPr/>
        </p:nvSpPr>
        <p:spPr>
          <a:xfrm>
            <a:off x="6155873" y="4297363"/>
            <a:ext cx="5393396" cy="38100"/>
          </a:xfrm>
          <a:prstGeom prst="rect">
            <a:avLst/>
          </a:prstGeom>
          <a:solidFill>
            <a:srgbClr val="1B1B27"/>
          </a:solidFill>
          <a:ln/>
        </p:spPr>
      </p:sp>
      <p:sp>
        <p:nvSpPr>
          <p:cNvPr id="22" name="Shape 19"/>
          <p:cNvSpPr/>
          <p:nvPr/>
        </p:nvSpPr>
        <p:spPr>
          <a:xfrm>
            <a:off x="642425" y="5469434"/>
            <a:ext cx="5393297" cy="38100"/>
          </a:xfrm>
          <a:prstGeom prst="rect">
            <a:avLst/>
          </a:prstGeom>
          <a:solidFill>
            <a:srgbClr val="1B1B27"/>
          </a:solidFill>
          <a:ln/>
        </p:spPr>
      </p:sp>
      <p:sp>
        <p:nvSpPr>
          <p:cNvPr id="23" name="Shape 20"/>
          <p:cNvSpPr/>
          <p:nvPr/>
        </p:nvSpPr>
        <p:spPr>
          <a:xfrm>
            <a:off x="6155873" y="5469434"/>
            <a:ext cx="5393396" cy="38100"/>
          </a:xfrm>
          <a:prstGeom prst="rect">
            <a:avLst/>
          </a:prstGeom>
          <a:solidFill>
            <a:srgbClr val="1B1B27"/>
          </a:solidFill>
          <a:ln/>
        </p:spPr>
      </p:sp>
      <p:pic>
        <p:nvPicPr>
          <p:cNvPr id="25" name="Imagen 24">
            <a:extLst>
              <a:ext uri="{FF2B5EF4-FFF2-40B4-BE49-F238E27FC236}">
                <a16:creationId xmlns:a16="http://schemas.microsoft.com/office/drawing/2014/main" id="{DCD07878-68EB-C551-914C-FD6A601A687F}"/>
              </a:ext>
            </a:extLst>
          </p:cNvPr>
          <p:cNvPicPr>
            <a:picLocks noChangeAspect="1"/>
          </p:cNvPicPr>
          <p:nvPr/>
        </p:nvPicPr>
        <p:blipFill>
          <a:blip r:embed="rId4"/>
          <a:stretch>
            <a:fillRect/>
          </a:stretch>
        </p:blipFill>
        <p:spPr>
          <a:xfrm>
            <a:off x="11087004" y="6577281"/>
            <a:ext cx="1104996" cy="2667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384300"/>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Evidencias del Proyecto</a:t>
            </a:r>
            <a:endParaRPr lang="en-US" sz="3250" dirty="0"/>
          </a:p>
        </p:txBody>
      </p:sp>
      <p:sp>
        <p:nvSpPr>
          <p:cNvPr id="3" name="Text 1"/>
          <p:cNvSpPr/>
          <p:nvPr/>
        </p:nvSpPr>
        <p:spPr>
          <a:xfrm>
            <a:off x="661475" y="2231727"/>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proyecto generará tres evidencias principales que permiten evaluar la trazabilidad del desarrollo, la viabilidad técnica y la solidez de la arquitectura de datos.</a:t>
            </a:r>
            <a:endParaRPr lang="en-US" sz="13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946995"/>
            <a:ext cx="3512653" cy="2526605"/>
          </a:xfrm>
          <a:prstGeom prst="rect">
            <a:avLst/>
          </a:prstGeom>
        </p:spPr>
      </p:pic>
      <p:sp>
        <p:nvSpPr>
          <p:cNvPr id="5" name="Text 2"/>
          <p:cNvSpPr/>
          <p:nvPr/>
        </p:nvSpPr>
        <p:spPr>
          <a:xfrm>
            <a:off x="2318585" y="3071019"/>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FFFFFF"/>
                </a:solidFill>
                <a:latin typeface="Raleway" pitchFamily="34" charset="0"/>
                <a:ea typeface="Raleway" pitchFamily="34" charset="-122"/>
                <a:cs typeface="Raleway" pitchFamily="34" charset="-120"/>
              </a:rPr>
              <a:t>1</a:t>
            </a:r>
            <a:endParaRPr lang="en-US" sz="1550" dirty="0"/>
          </a:p>
        </p:txBody>
      </p:sp>
      <p:sp>
        <p:nvSpPr>
          <p:cNvPr id="6" name="Text 3"/>
          <p:cNvSpPr/>
          <p:nvPr/>
        </p:nvSpPr>
        <p:spPr>
          <a:xfrm>
            <a:off x="845819" y="3608487"/>
            <a:ext cx="3143965"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Repositorio de Código (GitHub)</a:t>
            </a:r>
            <a:endParaRPr lang="en-US" sz="1600" dirty="0"/>
          </a:p>
        </p:txBody>
      </p:sp>
      <p:sp>
        <p:nvSpPr>
          <p:cNvPr id="7" name="Text 4"/>
          <p:cNvSpPr/>
          <p:nvPr/>
        </p:nvSpPr>
        <p:spPr>
          <a:xfrm>
            <a:off x="845819" y="3966170"/>
            <a:ext cx="3143965"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Enlace al repositorio con historial de commits completo. Permite evaluar la </a:t>
            </a:r>
            <a:r>
              <a:rPr lang="en-US" sz="1300" b="1" dirty="0">
                <a:solidFill>
                  <a:srgbClr val="3C3939"/>
                </a:solidFill>
                <a:latin typeface="Roboto Bold" pitchFamily="34" charset="0"/>
                <a:ea typeface="Roboto Bold" pitchFamily="34" charset="-122"/>
                <a:cs typeface="Roboto Bold" pitchFamily="34" charset="-120"/>
              </a:rPr>
              <a:t>trazabilidad del desarrollo</a:t>
            </a:r>
            <a:r>
              <a:rPr lang="en-US" sz="1300" dirty="0">
                <a:solidFill>
                  <a:srgbClr val="3C3939"/>
                </a:solidFill>
                <a:latin typeface="Roboto" pitchFamily="34" charset="0"/>
                <a:ea typeface="Roboto" pitchFamily="34" charset="-122"/>
                <a:cs typeface="Roboto" pitchFamily="34" charset="-120"/>
              </a:rPr>
              <a:t> y el trabajo colaborativo del equipo a lo largo de los 16 semanas del proyecto.</a:t>
            </a:r>
            <a:endParaRPr lang="en-US" sz="1300" dirty="0"/>
          </a:p>
        </p:txBody>
      </p:sp>
      <p:pic>
        <p:nvPicPr>
          <p:cNvPr id="8"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422" y="2946995"/>
            <a:ext cx="3512752" cy="2526605"/>
          </a:xfrm>
          <a:prstGeom prst="rect">
            <a:avLst/>
          </a:prstGeom>
        </p:spPr>
      </p:pic>
      <p:sp>
        <p:nvSpPr>
          <p:cNvPr id="9" name="Text 5"/>
          <p:cNvSpPr/>
          <p:nvPr/>
        </p:nvSpPr>
        <p:spPr>
          <a:xfrm>
            <a:off x="5996532" y="3071019"/>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FFFFFF"/>
                </a:solidFill>
                <a:latin typeface="Raleway" pitchFamily="34" charset="0"/>
                <a:ea typeface="Raleway" pitchFamily="34" charset="-122"/>
                <a:cs typeface="Raleway" pitchFamily="34" charset="-120"/>
              </a:rPr>
              <a:t>2</a:t>
            </a:r>
            <a:endParaRPr lang="en-US" sz="1550" dirty="0"/>
          </a:p>
        </p:txBody>
      </p:sp>
      <p:sp>
        <p:nvSpPr>
          <p:cNvPr id="10" name="Text 6"/>
          <p:cNvSpPr/>
          <p:nvPr/>
        </p:nvSpPr>
        <p:spPr>
          <a:xfrm>
            <a:off x="4523766" y="3608487"/>
            <a:ext cx="3144064"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Prototipo Funcional Móvil (APK/IPA)</a:t>
            </a:r>
            <a:endParaRPr lang="en-US" sz="1600" dirty="0"/>
          </a:p>
        </p:txBody>
      </p:sp>
      <p:sp>
        <p:nvSpPr>
          <p:cNvPr id="11" name="Text 7"/>
          <p:cNvSpPr/>
          <p:nvPr/>
        </p:nvSpPr>
        <p:spPr>
          <a:xfrm>
            <a:off x="4523766" y="4224635"/>
            <a:ext cx="314406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Entregable instalable con interfaz base y lectura de hardware habilitada. </a:t>
            </a:r>
            <a:r>
              <a:rPr lang="en-US" sz="1300" b="1" dirty="0">
                <a:solidFill>
                  <a:srgbClr val="3C3939"/>
                </a:solidFill>
                <a:latin typeface="Roboto Bold" pitchFamily="34" charset="0"/>
                <a:ea typeface="Roboto Bold" pitchFamily="34" charset="-122"/>
                <a:cs typeface="Roboto Bold" pitchFamily="34" charset="-120"/>
              </a:rPr>
              <a:t>Valida la viabilidad técnica</a:t>
            </a:r>
            <a:r>
              <a:rPr lang="en-US" sz="1300" dirty="0">
                <a:solidFill>
                  <a:srgbClr val="3C3939"/>
                </a:solidFill>
                <a:latin typeface="Roboto" pitchFamily="34" charset="0"/>
                <a:ea typeface="Roboto" pitchFamily="34" charset="-122"/>
                <a:cs typeface="Roboto" pitchFamily="34" charset="-120"/>
              </a:rPr>
              <a:t> de la lectura NFC en dispositivos reales con Android e iOS.</a:t>
            </a:r>
            <a:endParaRPr lang="en-US" sz="1300" dirty="0"/>
          </a:p>
        </p:txBody>
      </p:sp>
      <p:pic>
        <p:nvPicPr>
          <p:cNvPr id="12"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17468" y="2946995"/>
            <a:ext cx="3512653" cy="2526605"/>
          </a:xfrm>
          <a:prstGeom prst="rect">
            <a:avLst/>
          </a:prstGeom>
        </p:spPr>
      </p:pic>
      <p:sp>
        <p:nvSpPr>
          <p:cNvPr id="13" name="Text 8"/>
          <p:cNvSpPr/>
          <p:nvPr/>
        </p:nvSpPr>
        <p:spPr>
          <a:xfrm>
            <a:off x="9674578" y="3071019"/>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FFFFFF"/>
                </a:solidFill>
                <a:latin typeface="Raleway" pitchFamily="34" charset="0"/>
                <a:ea typeface="Raleway" pitchFamily="34" charset="-122"/>
                <a:cs typeface="Raleway" pitchFamily="34" charset="-120"/>
              </a:rPr>
              <a:t>3</a:t>
            </a:r>
            <a:endParaRPr lang="en-US" sz="1550" dirty="0"/>
          </a:p>
        </p:txBody>
      </p:sp>
      <p:sp>
        <p:nvSpPr>
          <p:cNvPr id="14" name="Text 9"/>
          <p:cNvSpPr/>
          <p:nvPr/>
        </p:nvSpPr>
        <p:spPr>
          <a:xfrm>
            <a:off x="8201812" y="3608487"/>
            <a:ext cx="3143965"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Scripts de Base de Datos y MER</a:t>
            </a:r>
            <a:endParaRPr lang="en-US" sz="1600" dirty="0"/>
          </a:p>
        </p:txBody>
      </p:sp>
      <p:sp>
        <p:nvSpPr>
          <p:cNvPr id="15" name="Text 10"/>
          <p:cNvSpPr/>
          <p:nvPr/>
        </p:nvSpPr>
        <p:spPr>
          <a:xfrm>
            <a:off x="8201812" y="3966170"/>
            <a:ext cx="3143965"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Documentación del esquema relacional y políticas de seguridad (RLS). </a:t>
            </a:r>
            <a:r>
              <a:rPr lang="en-US" sz="1300" b="1" dirty="0">
                <a:solidFill>
                  <a:srgbClr val="3C3939"/>
                </a:solidFill>
                <a:latin typeface="Roboto Bold" pitchFamily="34" charset="0"/>
                <a:ea typeface="Roboto Bold" pitchFamily="34" charset="-122"/>
                <a:cs typeface="Roboto Bold" pitchFamily="34" charset="-120"/>
              </a:rPr>
              <a:t>Demuestra la solidez de la arquitectura de datos</a:t>
            </a:r>
            <a:r>
              <a:rPr lang="en-US" sz="1300" dirty="0">
                <a:solidFill>
                  <a:srgbClr val="3C3939"/>
                </a:solidFill>
                <a:latin typeface="Roboto" pitchFamily="34" charset="0"/>
                <a:ea typeface="Roboto" pitchFamily="34" charset="-122"/>
                <a:cs typeface="Roboto" pitchFamily="34" charset="-120"/>
              </a:rPr>
              <a:t> y la correcta implementación del modelo transaccional.</a:t>
            </a:r>
            <a:endParaRPr lang="en-US" sz="1300" dirty="0"/>
          </a:p>
        </p:txBody>
      </p:sp>
      <p:pic>
        <p:nvPicPr>
          <p:cNvPr id="17" name="Imagen 16">
            <a:extLst>
              <a:ext uri="{FF2B5EF4-FFF2-40B4-BE49-F238E27FC236}">
                <a16:creationId xmlns:a16="http://schemas.microsoft.com/office/drawing/2014/main" id="{482F2F0C-2FE5-CDDB-CB9A-05C147BEB1C2}"/>
              </a:ext>
            </a:extLst>
          </p:cNvPr>
          <p:cNvPicPr>
            <a:picLocks noChangeAspect="1"/>
          </p:cNvPicPr>
          <p:nvPr/>
        </p:nvPicPr>
        <p:blipFill>
          <a:blip r:embed="rId5"/>
          <a:stretch>
            <a:fillRect/>
          </a:stretch>
        </p:blipFill>
        <p:spPr>
          <a:xfrm>
            <a:off x="11086442" y="6591277"/>
            <a:ext cx="1104996" cy="26672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125141"/>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Metodología de Trabajo — Scrum en Detalle</a:t>
            </a:r>
            <a:endParaRPr lang="en-US" sz="3250" dirty="0"/>
          </a:p>
        </p:txBody>
      </p:sp>
      <p:sp>
        <p:nvSpPr>
          <p:cNvPr id="3" name="Text 1"/>
          <p:cNvSpPr/>
          <p:nvPr/>
        </p:nvSpPr>
        <p:spPr>
          <a:xfrm>
            <a:off x="661475" y="1972568"/>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proyecto se regirá bajo un marco de trabajo Ágil, utilizando la metodología </a:t>
            </a:r>
            <a:r>
              <a:rPr lang="en-US" sz="1300" b="1" dirty="0">
                <a:solidFill>
                  <a:srgbClr val="3C3939"/>
                </a:solidFill>
                <a:latin typeface="Roboto Bold" pitchFamily="34" charset="0"/>
                <a:ea typeface="Roboto Bold" pitchFamily="34" charset="-122"/>
                <a:cs typeface="Roboto Bold" pitchFamily="34" charset="-120"/>
              </a:rPr>
              <a:t>Scrum</a:t>
            </a:r>
            <a:r>
              <a:rPr lang="en-US" sz="1300" dirty="0">
                <a:solidFill>
                  <a:srgbClr val="3C3939"/>
                </a:solidFill>
                <a:latin typeface="Roboto" pitchFamily="34" charset="0"/>
                <a:ea typeface="Roboto" pitchFamily="34" charset="-122"/>
                <a:cs typeface="Roboto" pitchFamily="34" charset="-120"/>
              </a:rPr>
              <a:t> para mantener un desarrollo iterativo e incremental con visibilidad continua del avance.</a:t>
            </a:r>
            <a:endParaRPr lang="en-US" sz="1300" dirty="0"/>
          </a:p>
        </p:txBody>
      </p:sp>
      <p:sp>
        <p:nvSpPr>
          <p:cNvPr id="4" name="Shape 2"/>
          <p:cNvSpPr/>
          <p:nvPr/>
        </p:nvSpPr>
        <p:spPr>
          <a:xfrm>
            <a:off x="542415" y="2687836"/>
            <a:ext cx="5470785" cy="3044924"/>
          </a:xfrm>
          <a:prstGeom prst="roundRect">
            <a:avLst>
              <a:gd name="adj" fmla="val 3911"/>
            </a:avLst>
          </a:prstGeom>
          <a:solidFill>
            <a:srgbClr val="1B1B27">
              <a:alpha val="95000"/>
            </a:srgbClr>
          </a:solidFill>
          <a:ln/>
        </p:spPr>
      </p:sp>
      <p:sp>
        <p:nvSpPr>
          <p:cNvPr id="5" name="Text 3"/>
          <p:cNvSpPr/>
          <p:nvPr/>
        </p:nvSpPr>
        <p:spPr>
          <a:xfrm>
            <a:off x="707710" y="2853134"/>
            <a:ext cx="5140196" cy="258465"/>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Raleway" pitchFamily="34" charset="0"/>
                <a:ea typeface="Raleway" pitchFamily="34" charset="-122"/>
                <a:cs typeface="Raleway" pitchFamily="34" charset="-120"/>
              </a:rPr>
              <a:t>Ciclos de Trabajo</a:t>
            </a:r>
            <a:endParaRPr lang="en-US" sz="1600" dirty="0"/>
          </a:p>
        </p:txBody>
      </p:sp>
      <p:sp>
        <p:nvSpPr>
          <p:cNvPr id="6" name="Text 4"/>
          <p:cNvSpPr/>
          <p:nvPr/>
        </p:nvSpPr>
        <p:spPr>
          <a:xfrm>
            <a:off x="707710" y="3276898"/>
            <a:ext cx="5140196"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Roboto" pitchFamily="34" charset="0"/>
                <a:ea typeface="Roboto" pitchFamily="34" charset="-122"/>
                <a:cs typeface="Roboto" pitchFamily="34" charset="-120"/>
              </a:rPr>
              <a:t>Sprints de </a:t>
            </a:r>
            <a:r>
              <a:rPr lang="en-US" sz="1300" b="1" dirty="0">
                <a:solidFill>
                  <a:srgbClr val="FFFFFF"/>
                </a:solidFill>
                <a:latin typeface="Roboto Bold" pitchFamily="34" charset="0"/>
                <a:ea typeface="Roboto Bold" pitchFamily="34" charset="-122"/>
                <a:cs typeface="Roboto Bold" pitchFamily="34" charset="-120"/>
              </a:rPr>
              <a:t>dos semanas</a:t>
            </a:r>
            <a:r>
              <a:rPr lang="en-US" sz="1300" dirty="0">
                <a:solidFill>
                  <a:srgbClr val="FFFFFF"/>
                </a:solidFill>
                <a:latin typeface="Roboto" pitchFamily="34" charset="0"/>
                <a:ea typeface="Roboto" pitchFamily="34" charset="-122"/>
                <a:cs typeface="Roboto" pitchFamily="34" charset="-120"/>
              </a:rPr>
              <a:t>, finalizando cada uno con un incremento de software funcional y demostrable. El Product Backlog se prioriza al inicio de cada Sprint según valor de negocio y dependencias técnicas.</a:t>
            </a:r>
            <a:endParaRPr lang="en-US" sz="1300" dirty="0"/>
          </a:p>
        </p:txBody>
      </p:sp>
      <p:sp>
        <p:nvSpPr>
          <p:cNvPr id="7" name="Text 5"/>
          <p:cNvSpPr/>
          <p:nvPr/>
        </p:nvSpPr>
        <p:spPr>
          <a:xfrm>
            <a:off x="6303904" y="2853134"/>
            <a:ext cx="5232666" cy="258465"/>
          </a:xfrm>
          <a:prstGeom prst="rect">
            <a:avLst/>
          </a:prstGeom>
          <a:noFill/>
          <a:ln/>
        </p:spPr>
        <p:txBody>
          <a:bodyPr wrap="none" lIns="0" tIns="0" rIns="0" bIns="0" rtlCol="0" anchor="t"/>
          <a:lstStyle/>
          <a:p>
            <a:pPr marL="0" indent="0" algn="l">
              <a:lnSpc>
                <a:spcPct val="104000"/>
              </a:lnSpc>
              <a:buNone/>
            </a:pPr>
            <a:r>
              <a:rPr lang="en-US" sz="1600" dirty="0">
                <a:solidFill>
                  <a:srgbClr val="1B1B27"/>
                </a:solidFill>
                <a:latin typeface="Raleway" pitchFamily="34" charset="0"/>
                <a:ea typeface="Raleway" pitchFamily="34" charset="-122"/>
                <a:cs typeface="Raleway" pitchFamily="34" charset="-120"/>
              </a:rPr>
              <a:t>Ceremonias Scrum</a:t>
            </a:r>
            <a:endParaRPr lang="en-US" sz="1600" dirty="0"/>
          </a:p>
        </p:txBody>
      </p:sp>
      <p:sp>
        <p:nvSpPr>
          <p:cNvPr id="8" name="Shape 6"/>
          <p:cNvSpPr/>
          <p:nvPr/>
        </p:nvSpPr>
        <p:spPr>
          <a:xfrm>
            <a:off x="6303904" y="3388618"/>
            <a:ext cx="82647" cy="82649"/>
          </a:xfrm>
          <a:prstGeom prst="ellipse">
            <a:avLst/>
          </a:prstGeom>
          <a:solidFill>
            <a:srgbClr val="1B1B27"/>
          </a:solidFill>
          <a:ln/>
        </p:spPr>
      </p:sp>
      <p:sp>
        <p:nvSpPr>
          <p:cNvPr id="9" name="Text 7"/>
          <p:cNvSpPr/>
          <p:nvPr/>
        </p:nvSpPr>
        <p:spPr>
          <a:xfrm>
            <a:off x="6551845" y="3297634"/>
            <a:ext cx="4984725" cy="529233"/>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3C3939"/>
                </a:solidFill>
                <a:latin typeface="Roboto Bold" pitchFamily="34" charset="0"/>
                <a:ea typeface="Roboto Bold" pitchFamily="34" charset="-122"/>
                <a:cs typeface="Roboto Bold" pitchFamily="34" charset="-120"/>
              </a:rPr>
              <a:t>Sprint Planning:</a:t>
            </a:r>
            <a:r>
              <a:rPr lang="en-US" sz="1300" dirty="0">
                <a:solidFill>
                  <a:srgbClr val="3C3939"/>
                </a:solidFill>
                <a:latin typeface="Roboto" pitchFamily="34" charset="0"/>
                <a:ea typeface="Roboto" pitchFamily="34" charset="-122"/>
                <a:cs typeface="Roboto" pitchFamily="34" charset="-120"/>
              </a:rPr>
              <a:t> Reunión de planificación al inicio de cada ciclo para seleccionar y estimar las tareas del Sprint</a:t>
            </a:r>
            <a:endParaRPr lang="en-US" sz="1300" dirty="0"/>
          </a:p>
        </p:txBody>
      </p:sp>
      <p:sp>
        <p:nvSpPr>
          <p:cNvPr id="10" name="Shape 8"/>
          <p:cNvSpPr/>
          <p:nvPr/>
        </p:nvSpPr>
        <p:spPr>
          <a:xfrm>
            <a:off x="6303904" y="4248547"/>
            <a:ext cx="82647" cy="82649"/>
          </a:xfrm>
          <a:prstGeom prst="ellipse">
            <a:avLst/>
          </a:prstGeom>
          <a:solidFill>
            <a:srgbClr val="1B1B27"/>
          </a:solidFill>
          <a:ln/>
        </p:spPr>
      </p:sp>
      <p:sp>
        <p:nvSpPr>
          <p:cNvPr id="11" name="Text 9"/>
          <p:cNvSpPr/>
          <p:nvPr/>
        </p:nvSpPr>
        <p:spPr>
          <a:xfrm>
            <a:off x="6551845" y="4157563"/>
            <a:ext cx="4984725" cy="529233"/>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3C3939"/>
                </a:solidFill>
                <a:latin typeface="Roboto Bold" pitchFamily="34" charset="0"/>
                <a:ea typeface="Roboto Bold" pitchFamily="34" charset="-122"/>
                <a:cs typeface="Roboto Bold" pitchFamily="34" charset="-120"/>
              </a:rPr>
              <a:t>Daily Sync:</a:t>
            </a:r>
            <a:r>
              <a:rPr lang="en-US" sz="1300" dirty="0">
                <a:solidFill>
                  <a:srgbClr val="3C3939"/>
                </a:solidFill>
                <a:latin typeface="Roboto" pitchFamily="34" charset="0"/>
                <a:ea typeface="Roboto" pitchFamily="34" charset="-122"/>
                <a:cs typeface="Roboto" pitchFamily="34" charset="-120"/>
              </a:rPr>
              <a:t> Sincronizaciones cortas para mitigar bloqueos técnicos y mantener alineación del equipo</a:t>
            </a:r>
            <a:endParaRPr lang="en-US" sz="1300" dirty="0"/>
          </a:p>
        </p:txBody>
      </p:sp>
      <p:sp>
        <p:nvSpPr>
          <p:cNvPr id="12" name="Shape 10"/>
          <p:cNvSpPr/>
          <p:nvPr/>
        </p:nvSpPr>
        <p:spPr>
          <a:xfrm>
            <a:off x="6303904" y="5108476"/>
            <a:ext cx="82647" cy="82649"/>
          </a:xfrm>
          <a:prstGeom prst="ellipse">
            <a:avLst/>
          </a:prstGeom>
          <a:solidFill>
            <a:srgbClr val="1B1B27"/>
          </a:solidFill>
          <a:ln/>
        </p:spPr>
      </p:sp>
      <p:sp>
        <p:nvSpPr>
          <p:cNvPr id="13" name="Text 11"/>
          <p:cNvSpPr/>
          <p:nvPr/>
        </p:nvSpPr>
        <p:spPr>
          <a:xfrm>
            <a:off x="6551845" y="5017492"/>
            <a:ext cx="4984725" cy="529233"/>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3C3939"/>
                </a:solidFill>
                <a:latin typeface="Roboto Bold" pitchFamily="34" charset="0"/>
                <a:ea typeface="Roboto Bold" pitchFamily="34" charset="-122"/>
                <a:cs typeface="Roboto Bold" pitchFamily="34" charset="-120"/>
              </a:rPr>
              <a:t>Sprint Review:</a:t>
            </a:r>
            <a:r>
              <a:rPr lang="en-US" sz="1300" dirty="0">
                <a:solidFill>
                  <a:srgbClr val="3C3939"/>
                </a:solidFill>
                <a:latin typeface="Roboto" pitchFamily="34" charset="0"/>
                <a:ea typeface="Roboto" pitchFamily="34" charset="-122"/>
                <a:cs typeface="Roboto" pitchFamily="34" charset="-120"/>
              </a:rPr>
              <a:t> Revisión y demostración del incremento funcional al final de cada Sprint</a:t>
            </a:r>
            <a:endParaRPr lang="en-US" sz="1300" dirty="0"/>
          </a:p>
        </p:txBody>
      </p:sp>
      <p:pic>
        <p:nvPicPr>
          <p:cNvPr id="15" name="Imagen 14">
            <a:extLst>
              <a:ext uri="{FF2B5EF4-FFF2-40B4-BE49-F238E27FC236}">
                <a16:creationId xmlns:a16="http://schemas.microsoft.com/office/drawing/2014/main" id="{CDA3AC0D-DFE1-EBC6-6FDF-3988B04F2322}"/>
              </a:ext>
            </a:extLst>
          </p:cNvPr>
          <p:cNvPicPr>
            <a:picLocks noChangeAspect="1"/>
          </p:cNvPicPr>
          <p:nvPr/>
        </p:nvPicPr>
        <p:blipFill>
          <a:blip r:embed="rId3"/>
          <a:stretch>
            <a:fillRect/>
          </a:stretch>
        </p:blipFill>
        <p:spPr>
          <a:xfrm>
            <a:off x="11087004" y="6554234"/>
            <a:ext cx="1104996" cy="2667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159173"/>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Herramientas de Trabajo</a:t>
            </a:r>
            <a:endParaRPr lang="en-US" sz="3250" dirty="0"/>
          </a:p>
        </p:txBody>
      </p:sp>
      <p:sp>
        <p:nvSpPr>
          <p:cNvPr id="3" name="Text 1"/>
          <p:cNvSpPr/>
          <p:nvPr/>
        </p:nvSpPr>
        <p:spPr>
          <a:xfrm>
            <a:off x="661475" y="2006600"/>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stack tecnológico seleccionado responde a criterios de rendimiento, accesibilidad de hardware y reducción de complejidad operacional dentro del plazo académico.</a:t>
            </a:r>
            <a:endParaRPr lang="en-US" sz="1300" dirty="0"/>
          </a:p>
        </p:txBody>
      </p:sp>
      <p:sp>
        <p:nvSpPr>
          <p:cNvPr id="4" name="Shape 2"/>
          <p:cNvSpPr/>
          <p:nvPr/>
        </p:nvSpPr>
        <p:spPr>
          <a:xfrm>
            <a:off x="661475" y="2721868"/>
            <a:ext cx="10868745" cy="2976959"/>
          </a:xfrm>
          <a:prstGeom prst="roundRect">
            <a:avLst>
              <a:gd name="adj" fmla="val 2333"/>
            </a:avLst>
          </a:prstGeom>
          <a:solidFill>
            <a:srgbClr val="E1E1EA"/>
          </a:solidFill>
          <a:ln w="6350">
            <a:solidFill>
              <a:srgbClr val="C7C7D0"/>
            </a:solidFill>
            <a:prstDash val="solid"/>
          </a:ln>
        </p:spPr>
      </p:sp>
      <p:sp>
        <p:nvSpPr>
          <p:cNvPr id="5" name="Shape 3"/>
          <p:cNvSpPr/>
          <p:nvPr/>
        </p:nvSpPr>
        <p:spPr>
          <a:xfrm>
            <a:off x="667825" y="2728218"/>
            <a:ext cx="5428023" cy="1482130"/>
          </a:xfrm>
          <a:custGeom>
            <a:avLst/>
            <a:gdLst/>
            <a:ahLst/>
            <a:cxnLst/>
            <a:rect l="l" t="t" r="r" b="b"/>
            <a:pathLst>
              <a:path w="5428023" h="1482130">
                <a:moveTo>
                  <a:pt x="57887" y="0"/>
                </a:moveTo>
                <a:lnTo>
                  <a:pt x="5428023" y="0"/>
                </a:lnTo>
                <a:lnTo>
                  <a:pt x="5428023" y="1482130"/>
                </a:lnTo>
                <a:lnTo>
                  <a:pt x="0" y="1482130"/>
                </a:lnTo>
                <a:lnTo>
                  <a:pt x="0" y="57888"/>
                </a:lnTo>
                <a:arcTo wR="57887" hR="57888" stAng="10800000" swAng="5400000"/>
                <a:close/>
              </a:path>
            </a:pathLst>
          </a:custGeom>
          <a:solidFill>
            <a:srgbClr val="E1E1EA"/>
          </a:solidFill>
          <a:ln/>
        </p:spPr>
      </p:sp>
      <p:sp>
        <p:nvSpPr>
          <p:cNvPr id="6" name="Text 4"/>
          <p:cNvSpPr/>
          <p:nvPr/>
        </p:nvSpPr>
        <p:spPr>
          <a:xfrm>
            <a:off x="833119" y="2893516"/>
            <a:ext cx="484929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Flutter (Dart)</a:t>
            </a:r>
            <a:endParaRPr lang="en-US" sz="1600" dirty="0"/>
          </a:p>
        </p:txBody>
      </p:sp>
      <p:sp>
        <p:nvSpPr>
          <p:cNvPr id="7" name="Text 5"/>
          <p:cNvSpPr/>
          <p:nvPr/>
        </p:nvSpPr>
        <p:spPr>
          <a:xfrm>
            <a:off x="833119" y="3251200"/>
            <a:ext cx="484929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Frontend móvil. Compilación nativa en Android e iOS desde un único código base con rendimiento óptimo en lectura de hardware NFC.</a:t>
            </a:r>
            <a:endParaRPr lang="en-US" sz="1300" dirty="0"/>
          </a:p>
        </p:txBody>
      </p:sp>
      <p:sp>
        <p:nvSpPr>
          <p:cNvPr id="8" name="Shape 6"/>
          <p:cNvSpPr/>
          <p:nvPr/>
        </p:nvSpPr>
        <p:spPr>
          <a:xfrm>
            <a:off x="6095848" y="2728218"/>
            <a:ext cx="5428023" cy="1482130"/>
          </a:xfrm>
          <a:custGeom>
            <a:avLst/>
            <a:gdLst/>
            <a:ahLst/>
            <a:cxnLst/>
            <a:rect l="l" t="t" r="r" b="b"/>
            <a:pathLst>
              <a:path w="5428023" h="1482130">
                <a:moveTo>
                  <a:pt x="0" y="0"/>
                </a:moveTo>
                <a:lnTo>
                  <a:pt x="5370136" y="0"/>
                </a:lnTo>
                <a:arcTo wR="57887" hR="57888" stAng="16200000" swAng="5400000"/>
                <a:lnTo>
                  <a:pt x="5428023" y="1482130"/>
                </a:lnTo>
                <a:lnTo>
                  <a:pt x="0" y="1482130"/>
                </a:lnTo>
                <a:lnTo>
                  <a:pt x="0" y="0"/>
                </a:lnTo>
                <a:close/>
              </a:path>
            </a:pathLst>
          </a:custGeom>
          <a:solidFill>
            <a:srgbClr val="E1E1EA"/>
          </a:solidFill>
          <a:ln/>
        </p:spPr>
      </p:sp>
      <p:sp>
        <p:nvSpPr>
          <p:cNvPr id="9" name="Shape 7"/>
          <p:cNvSpPr/>
          <p:nvPr/>
        </p:nvSpPr>
        <p:spPr>
          <a:xfrm>
            <a:off x="6095848" y="2728218"/>
            <a:ext cx="19050" cy="1482130"/>
          </a:xfrm>
          <a:prstGeom prst="roundRect">
            <a:avLst>
              <a:gd name="adj" fmla="val 49999"/>
            </a:avLst>
          </a:prstGeom>
          <a:solidFill>
            <a:srgbClr val="C7C7D0"/>
          </a:solidFill>
          <a:ln/>
        </p:spPr>
      </p:sp>
      <p:sp>
        <p:nvSpPr>
          <p:cNvPr id="10" name="Text 8"/>
          <p:cNvSpPr/>
          <p:nvPr/>
        </p:nvSpPr>
        <p:spPr>
          <a:xfrm>
            <a:off x="6509282" y="2893516"/>
            <a:ext cx="484929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Supabase (PostgreSQL)</a:t>
            </a:r>
            <a:endParaRPr lang="en-US" sz="1600" dirty="0"/>
          </a:p>
        </p:txBody>
      </p:sp>
      <p:sp>
        <p:nvSpPr>
          <p:cNvPr id="11" name="Text 9"/>
          <p:cNvSpPr/>
          <p:nvPr/>
        </p:nvSpPr>
        <p:spPr>
          <a:xfrm>
            <a:off x="6509282" y="3251200"/>
            <a:ext cx="484929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Backend-as-a-Service (BaaS). Motor relacional de alto rendimiento, autenticación integrada y políticas de seguridad a nivel de fila (RLS).</a:t>
            </a:r>
            <a:endParaRPr lang="en-US" sz="1300" dirty="0"/>
          </a:p>
        </p:txBody>
      </p:sp>
      <p:sp>
        <p:nvSpPr>
          <p:cNvPr id="12" name="Shape 10"/>
          <p:cNvSpPr/>
          <p:nvPr/>
        </p:nvSpPr>
        <p:spPr>
          <a:xfrm>
            <a:off x="667825" y="4210348"/>
            <a:ext cx="5428023" cy="1482130"/>
          </a:xfrm>
          <a:custGeom>
            <a:avLst/>
            <a:gdLst/>
            <a:ahLst/>
            <a:cxnLst/>
            <a:rect l="l" t="t" r="r" b="b"/>
            <a:pathLst>
              <a:path w="5428023" h="1482130">
                <a:moveTo>
                  <a:pt x="0" y="0"/>
                </a:moveTo>
                <a:lnTo>
                  <a:pt x="5428023" y="0"/>
                </a:lnTo>
                <a:lnTo>
                  <a:pt x="5428023" y="1482130"/>
                </a:lnTo>
                <a:lnTo>
                  <a:pt x="57887" y="1482130"/>
                </a:lnTo>
                <a:arcTo wR="57887" hR="57888" stAng="5400000" swAng="5400000"/>
                <a:lnTo>
                  <a:pt x="0" y="0"/>
                </a:lnTo>
                <a:close/>
              </a:path>
            </a:pathLst>
          </a:custGeom>
          <a:solidFill>
            <a:srgbClr val="E1E1EA"/>
          </a:solidFill>
          <a:ln/>
        </p:spPr>
      </p:sp>
      <p:sp>
        <p:nvSpPr>
          <p:cNvPr id="13" name="Shape 11"/>
          <p:cNvSpPr/>
          <p:nvPr/>
        </p:nvSpPr>
        <p:spPr>
          <a:xfrm>
            <a:off x="667825" y="4210348"/>
            <a:ext cx="5428023" cy="19050"/>
          </a:xfrm>
          <a:prstGeom prst="roundRect">
            <a:avLst>
              <a:gd name="adj" fmla="val 49999"/>
            </a:avLst>
          </a:prstGeom>
          <a:solidFill>
            <a:srgbClr val="C7C7D0"/>
          </a:solidFill>
          <a:ln/>
        </p:spPr>
      </p:sp>
      <p:sp>
        <p:nvSpPr>
          <p:cNvPr id="14" name="Text 12"/>
          <p:cNvSpPr/>
          <p:nvPr/>
        </p:nvSpPr>
        <p:spPr>
          <a:xfrm>
            <a:off x="833119" y="4375646"/>
            <a:ext cx="484929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GitHub</a:t>
            </a:r>
            <a:endParaRPr lang="en-US" sz="1600" dirty="0"/>
          </a:p>
        </p:txBody>
      </p:sp>
      <p:sp>
        <p:nvSpPr>
          <p:cNvPr id="15" name="Text 13"/>
          <p:cNvSpPr/>
          <p:nvPr/>
        </p:nvSpPr>
        <p:spPr>
          <a:xfrm>
            <a:off x="833119" y="4733330"/>
            <a:ext cx="484929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Control de versiones descentralizado. Historial de commits que garantiza trazabilidad del desarrollo y colaboración estructurada del equipo.</a:t>
            </a:r>
            <a:endParaRPr lang="en-US" sz="1300" dirty="0"/>
          </a:p>
        </p:txBody>
      </p:sp>
      <p:sp>
        <p:nvSpPr>
          <p:cNvPr id="16" name="Shape 14"/>
          <p:cNvSpPr/>
          <p:nvPr/>
        </p:nvSpPr>
        <p:spPr>
          <a:xfrm>
            <a:off x="6095848" y="4210348"/>
            <a:ext cx="5428023" cy="1482130"/>
          </a:xfrm>
          <a:custGeom>
            <a:avLst/>
            <a:gdLst/>
            <a:ahLst/>
            <a:cxnLst/>
            <a:rect l="l" t="t" r="r" b="b"/>
            <a:pathLst>
              <a:path w="5428023" h="1482130">
                <a:moveTo>
                  <a:pt x="0" y="0"/>
                </a:moveTo>
                <a:lnTo>
                  <a:pt x="5428023" y="0"/>
                </a:lnTo>
                <a:lnTo>
                  <a:pt x="5428023" y="1424241"/>
                </a:lnTo>
                <a:arcTo wR="57887" hR="57888" stAng="0" swAng="5400000"/>
                <a:lnTo>
                  <a:pt x="0" y="1482130"/>
                </a:lnTo>
                <a:lnTo>
                  <a:pt x="0" y="0"/>
                </a:lnTo>
                <a:close/>
              </a:path>
            </a:pathLst>
          </a:custGeom>
          <a:solidFill>
            <a:srgbClr val="E1E1EA"/>
          </a:solidFill>
          <a:ln/>
        </p:spPr>
      </p:sp>
      <p:sp>
        <p:nvSpPr>
          <p:cNvPr id="17" name="Shape 15"/>
          <p:cNvSpPr/>
          <p:nvPr/>
        </p:nvSpPr>
        <p:spPr>
          <a:xfrm>
            <a:off x="6095848" y="4210348"/>
            <a:ext cx="19050" cy="1482130"/>
          </a:xfrm>
          <a:prstGeom prst="roundRect">
            <a:avLst>
              <a:gd name="adj" fmla="val 49999"/>
            </a:avLst>
          </a:prstGeom>
          <a:solidFill>
            <a:srgbClr val="C7C7D0"/>
          </a:solidFill>
          <a:ln/>
        </p:spPr>
      </p:sp>
      <p:sp>
        <p:nvSpPr>
          <p:cNvPr id="18" name="Shape 16"/>
          <p:cNvSpPr/>
          <p:nvPr/>
        </p:nvSpPr>
        <p:spPr>
          <a:xfrm>
            <a:off x="6095848" y="4210348"/>
            <a:ext cx="5428023" cy="19050"/>
          </a:xfrm>
          <a:prstGeom prst="roundRect">
            <a:avLst>
              <a:gd name="adj" fmla="val 49999"/>
            </a:avLst>
          </a:prstGeom>
          <a:solidFill>
            <a:srgbClr val="C7C7D0"/>
          </a:solidFill>
          <a:ln/>
        </p:spPr>
      </p:sp>
      <p:sp>
        <p:nvSpPr>
          <p:cNvPr id="19" name="Text 17"/>
          <p:cNvSpPr/>
          <p:nvPr/>
        </p:nvSpPr>
        <p:spPr>
          <a:xfrm>
            <a:off x="6509282" y="4375646"/>
            <a:ext cx="484929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Jira / Trello</a:t>
            </a:r>
            <a:endParaRPr lang="en-US" sz="1600" dirty="0"/>
          </a:p>
        </p:txBody>
      </p:sp>
      <p:sp>
        <p:nvSpPr>
          <p:cNvPr id="20" name="Text 18"/>
          <p:cNvSpPr/>
          <p:nvPr/>
        </p:nvSpPr>
        <p:spPr>
          <a:xfrm>
            <a:off x="6509282" y="4733330"/>
            <a:ext cx="484929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Administración del Product Backlog y seguimiento visual del avance mediante tableros Kanban alineados con los ciclos Scrum.</a:t>
            </a:r>
            <a:endParaRPr lang="en-US" sz="1300" dirty="0"/>
          </a:p>
        </p:txBody>
      </p:sp>
      <p:sp>
        <p:nvSpPr>
          <p:cNvPr id="21" name="Shape 19"/>
          <p:cNvSpPr/>
          <p:nvPr/>
        </p:nvSpPr>
        <p:spPr>
          <a:xfrm>
            <a:off x="5889180" y="3262561"/>
            <a:ext cx="413434" cy="413445"/>
          </a:xfrm>
          <a:prstGeom prst="roundRect">
            <a:avLst>
              <a:gd name="adj" fmla="val 16802"/>
            </a:avLst>
          </a:prstGeom>
          <a:solidFill>
            <a:srgbClr val="FFFFFF">
              <a:alpha val="95000"/>
            </a:srgbClr>
          </a:solidFill>
          <a:ln w="19050">
            <a:solidFill>
              <a:srgbClr val="C7C7D0"/>
            </a:solidFill>
            <a:prstDash val="solid"/>
          </a:ln>
        </p:spPr>
      </p:sp>
      <p:pic>
        <p:nvPicPr>
          <p:cNvPr id="2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92563" y="3365847"/>
            <a:ext cx="206667" cy="206673"/>
          </a:xfrm>
          <a:prstGeom prst="rect">
            <a:avLst/>
          </a:prstGeom>
        </p:spPr>
      </p:pic>
      <p:sp>
        <p:nvSpPr>
          <p:cNvPr id="23" name="Shape 20"/>
          <p:cNvSpPr/>
          <p:nvPr/>
        </p:nvSpPr>
        <p:spPr>
          <a:xfrm>
            <a:off x="5889180" y="4744690"/>
            <a:ext cx="413434" cy="413445"/>
          </a:xfrm>
          <a:prstGeom prst="roundRect">
            <a:avLst>
              <a:gd name="adj" fmla="val 16802"/>
            </a:avLst>
          </a:prstGeom>
          <a:solidFill>
            <a:srgbClr val="FFFFFF">
              <a:alpha val="95000"/>
            </a:srgbClr>
          </a:solidFill>
          <a:ln w="19050">
            <a:solidFill>
              <a:srgbClr val="C7C7D0"/>
            </a:solidFill>
            <a:prstDash val="solid"/>
          </a:ln>
        </p:spPr>
      </p:sp>
      <p:pic>
        <p:nvPicPr>
          <p:cNvPr id="24"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92563" y="4847977"/>
            <a:ext cx="206667" cy="206673"/>
          </a:xfrm>
          <a:prstGeom prst="rect">
            <a:avLst/>
          </a:prstGeom>
        </p:spPr>
      </p:pic>
      <p:pic>
        <p:nvPicPr>
          <p:cNvPr id="26" name="Imagen 25">
            <a:extLst>
              <a:ext uri="{FF2B5EF4-FFF2-40B4-BE49-F238E27FC236}">
                <a16:creationId xmlns:a16="http://schemas.microsoft.com/office/drawing/2014/main" id="{51269E4A-4014-70F9-68A7-FA1FAB25D113}"/>
              </a:ext>
            </a:extLst>
          </p:cNvPr>
          <p:cNvPicPr>
            <a:picLocks noChangeAspect="1"/>
          </p:cNvPicPr>
          <p:nvPr/>
        </p:nvPicPr>
        <p:blipFill>
          <a:blip r:embed="rId7"/>
          <a:stretch>
            <a:fillRect/>
          </a:stretch>
        </p:blipFill>
        <p:spPr>
          <a:xfrm>
            <a:off x="11087004" y="6528842"/>
            <a:ext cx="1104996" cy="2667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6FB17B4-65D2-3E1E-5196-2064955CD9B5}"/>
              </a:ext>
            </a:extLst>
          </p:cNvPr>
          <p:cNvPicPr>
            <a:picLocks noChangeAspect="1"/>
          </p:cNvPicPr>
          <p:nvPr/>
        </p:nvPicPr>
        <p:blipFill>
          <a:blip r:embed="rId2"/>
          <a:stretch>
            <a:fillRect/>
          </a:stretch>
        </p:blipFill>
        <p:spPr>
          <a:xfrm>
            <a:off x="1616530" y="3590587"/>
            <a:ext cx="8098970" cy="2342061"/>
          </a:xfrm>
          <a:prstGeom prst="rect">
            <a:avLst/>
          </a:prstGeom>
        </p:spPr>
      </p:pic>
      <p:sp>
        <p:nvSpPr>
          <p:cNvPr id="7" name="CuadroTexto 6">
            <a:extLst>
              <a:ext uri="{FF2B5EF4-FFF2-40B4-BE49-F238E27FC236}">
                <a16:creationId xmlns:a16="http://schemas.microsoft.com/office/drawing/2014/main" id="{438E99C1-5968-0DAD-C90A-0C53D8108821}"/>
              </a:ext>
            </a:extLst>
          </p:cNvPr>
          <p:cNvSpPr txBox="1"/>
          <p:nvPr/>
        </p:nvSpPr>
        <p:spPr>
          <a:xfrm>
            <a:off x="893407" y="698597"/>
            <a:ext cx="6097554" cy="590226"/>
          </a:xfrm>
          <a:prstGeom prst="rect">
            <a:avLst/>
          </a:prstGeom>
          <a:noFill/>
        </p:spPr>
        <p:txBody>
          <a:bodyPr wrap="square">
            <a:sp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3250" b="0" i="0" u="none" strike="noStrike" kern="1200" cap="none" spc="0" normalizeH="0" baseline="0" noProof="0" dirty="0">
                <a:ln>
                  <a:noFill/>
                </a:ln>
                <a:solidFill>
                  <a:srgbClr val="1B1B27"/>
                </a:solidFill>
                <a:effectLst/>
                <a:uLnTx/>
                <a:uFillTx/>
                <a:latin typeface="Raleway" pitchFamily="34" charset="0"/>
                <a:ea typeface="Raleway" pitchFamily="34" charset="-122"/>
                <a:cs typeface="Raleway" pitchFamily="34" charset="-120"/>
              </a:rPr>
              <a:t>Matriz RACI</a:t>
            </a:r>
            <a:endParaRPr kumimoji="0" lang="en-US" sz="3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CuadroTexto 10">
            <a:extLst>
              <a:ext uri="{FF2B5EF4-FFF2-40B4-BE49-F238E27FC236}">
                <a16:creationId xmlns:a16="http://schemas.microsoft.com/office/drawing/2014/main" id="{C04FFC9C-DC76-3DF4-5E18-EDB5D5204001}"/>
              </a:ext>
            </a:extLst>
          </p:cNvPr>
          <p:cNvSpPr txBox="1"/>
          <p:nvPr/>
        </p:nvSpPr>
        <p:spPr>
          <a:xfrm>
            <a:off x="893406" y="1766554"/>
            <a:ext cx="9908331" cy="1500860"/>
          </a:xfrm>
          <a:prstGeom prst="rect">
            <a:avLst/>
          </a:prstGeom>
          <a:noFill/>
        </p:spPr>
        <p:txBody>
          <a:bodyPr wrap="square">
            <a:spAutoFit/>
          </a:bodyPr>
          <a:lstStyle/>
          <a:p>
            <a:pPr marL="0" marR="0" lvl="0" indent="0" algn="l" defTabSz="914400" rtl="0" eaLnBrk="1" fontAlgn="auto" latinLnBrk="0" hangingPunct="1">
              <a:lnSpc>
                <a:spcPct val="133000"/>
              </a:lnSpc>
              <a:spcBef>
                <a:spcPts val="0"/>
              </a:spcBef>
              <a:spcAft>
                <a:spcPts val="0"/>
              </a:spcAft>
              <a:buClrTx/>
              <a:buSzTx/>
              <a:buFontTx/>
              <a:buNone/>
              <a:tabLst/>
              <a:defRPr/>
            </a:pPr>
            <a:r>
              <a:rPr lang="es-MX" sz="1400" dirty="0">
                <a:latin typeface="Roboto" panose="02000000000000000000" pitchFamily="2" charset="0"/>
                <a:ea typeface="Roboto" panose="02000000000000000000" pitchFamily="2" charset="0"/>
                <a:cs typeface="Roboto" panose="02000000000000000000" pitchFamily="2" charset="0"/>
              </a:rPr>
              <a:t>Para asegurar el éxito del proyecto y evitar cuellos de botella, hemos estructurado nuestras responsabilidades (Matriz RACI) basándonos en las fortalezas técnicas de cada integrante. Bastián lidera la arquitectura de bases de datos y la orquestación en la nube (Supabase), asegurando la integridad de los datos financieros. Felipe asume la responsabilidad principal del desarrollo frontend en Flutter y la integración de las librerías nativas para la lectura NFC, mientras que Marcelo consolida la documentación técnica y brinda apoyo transversal en el backend.</a:t>
            </a:r>
            <a:endParaRPr kumimoji="0" lang="en-US" sz="13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endParaRPr>
          </a:p>
        </p:txBody>
      </p:sp>
      <p:pic>
        <p:nvPicPr>
          <p:cNvPr id="13" name="Imagen 12">
            <a:extLst>
              <a:ext uri="{FF2B5EF4-FFF2-40B4-BE49-F238E27FC236}">
                <a16:creationId xmlns:a16="http://schemas.microsoft.com/office/drawing/2014/main" id="{7D3FF492-C2ED-404B-CE3B-EDA279CECDAF}"/>
              </a:ext>
            </a:extLst>
          </p:cNvPr>
          <p:cNvPicPr>
            <a:picLocks noChangeAspect="1"/>
          </p:cNvPicPr>
          <p:nvPr/>
        </p:nvPicPr>
        <p:blipFill>
          <a:blip r:embed="rId3"/>
          <a:stretch>
            <a:fillRect/>
          </a:stretch>
        </p:blipFill>
        <p:spPr>
          <a:xfrm>
            <a:off x="11052792" y="6567950"/>
            <a:ext cx="1104996" cy="266723"/>
          </a:xfrm>
          <a:prstGeom prst="rect">
            <a:avLst/>
          </a:prstGeom>
        </p:spPr>
      </p:pic>
    </p:spTree>
    <p:extLst>
      <p:ext uri="{BB962C8B-B14F-4D97-AF65-F5344CB8AC3E}">
        <p14:creationId xmlns:p14="http://schemas.microsoft.com/office/powerpoint/2010/main" val="2579138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64D963E-D049-6969-EA91-0F44E964CE47}"/>
              </a:ext>
            </a:extLst>
          </p:cNvPr>
          <p:cNvSpPr txBox="1"/>
          <p:nvPr/>
        </p:nvSpPr>
        <p:spPr>
          <a:xfrm>
            <a:off x="837422" y="633283"/>
            <a:ext cx="10293997" cy="590226"/>
          </a:xfrm>
          <a:prstGeom prst="rect">
            <a:avLst/>
          </a:prstGeom>
          <a:noFill/>
        </p:spPr>
        <p:txBody>
          <a:bodyPr wrap="square">
            <a:sp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en-US" sz="3250" b="0" i="0" u="none" strike="noStrike" kern="1200" cap="none" spc="0" normalizeH="0" baseline="0" noProof="0" dirty="0" err="1">
                <a:ln>
                  <a:noFill/>
                </a:ln>
                <a:solidFill>
                  <a:srgbClr val="1B1B27"/>
                </a:solidFill>
                <a:effectLst/>
                <a:uLnTx/>
                <a:uFillTx/>
                <a:latin typeface="Raleway" pitchFamily="34" charset="0"/>
                <a:ea typeface="Raleway" pitchFamily="34" charset="-122"/>
                <a:cs typeface="Raleway" pitchFamily="34" charset="-120"/>
              </a:rPr>
              <a:t>Esquema</a:t>
            </a:r>
            <a:r>
              <a:rPr kumimoji="0" lang="en-US" sz="3250" b="0" i="0" u="none" strike="noStrike" kern="1200" cap="none" spc="0" normalizeH="0" baseline="0" noProof="0" dirty="0">
                <a:ln>
                  <a:noFill/>
                </a:ln>
                <a:solidFill>
                  <a:srgbClr val="1B1B27"/>
                </a:solidFill>
                <a:effectLst/>
                <a:uLnTx/>
                <a:uFillTx/>
                <a:latin typeface="Raleway" pitchFamily="34" charset="0"/>
                <a:ea typeface="Raleway" pitchFamily="34" charset="-122"/>
                <a:cs typeface="Raleway" pitchFamily="34" charset="-120"/>
              </a:rPr>
              <a:t> de Bases de Datos</a:t>
            </a:r>
            <a:endParaRPr kumimoji="0" lang="en-US" sz="3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CuadroTexto 6">
            <a:extLst>
              <a:ext uri="{FF2B5EF4-FFF2-40B4-BE49-F238E27FC236}">
                <a16:creationId xmlns:a16="http://schemas.microsoft.com/office/drawing/2014/main" id="{5FBA4ED8-FEDD-752C-F7AF-4918FD246393}"/>
              </a:ext>
            </a:extLst>
          </p:cNvPr>
          <p:cNvSpPr txBox="1"/>
          <p:nvPr/>
        </p:nvSpPr>
        <p:spPr>
          <a:xfrm>
            <a:off x="837422" y="1380931"/>
            <a:ext cx="9862457" cy="1569660"/>
          </a:xfrm>
          <a:prstGeom prst="rect">
            <a:avLst/>
          </a:prstGeom>
          <a:noFill/>
        </p:spPr>
        <p:txBody>
          <a:bodyPr wrap="square" rtlCol="0">
            <a:spAutoFit/>
          </a:bodyPr>
          <a:lstStyle/>
          <a:p>
            <a:r>
              <a:rPr lang="es-MX" sz="1600" dirty="0">
                <a:latin typeface="Roboto" panose="02000000000000000000" pitchFamily="2" charset="0"/>
                <a:ea typeface="Roboto" panose="02000000000000000000" pitchFamily="2" charset="0"/>
                <a:cs typeface="Roboto" panose="02000000000000000000" pitchFamily="2" charset="0"/>
              </a:rPr>
              <a:t>El esquema relacional diseñado para Supabase se centra en la trazabilidad y la integridad de los datos. La tabla clientes vincula la identidad del usuario a un identificador físico inmutable (el UID del chip NFC), impidiendo la clonación. Por su parte, la tabla transacciones funciona como un libro mayor (</a:t>
            </a:r>
            <a:r>
              <a:rPr lang="es-MX" sz="1600" dirty="0" err="1">
                <a:latin typeface="Roboto" panose="02000000000000000000" pitchFamily="2" charset="0"/>
                <a:ea typeface="Roboto" panose="02000000000000000000" pitchFamily="2" charset="0"/>
                <a:cs typeface="Roboto" panose="02000000000000000000" pitchFamily="2" charset="0"/>
              </a:rPr>
              <a:t>ledger</a:t>
            </a:r>
            <a:r>
              <a:rPr lang="es-MX" sz="1600" dirty="0">
                <a:latin typeface="Roboto" panose="02000000000000000000" pitchFamily="2" charset="0"/>
                <a:ea typeface="Roboto" panose="02000000000000000000" pitchFamily="2" charset="0"/>
                <a:cs typeface="Roboto" panose="02000000000000000000" pitchFamily="2" charset="0"/>
              </a:rPr>
              <a:t>) financiero. Su diseño incorpora banderas de estado de red (</a:t>
            </a:r>
            <a:r>
              <a:rPr lang="es-MX" sz="1600" dirty="0" err="1">
                <a:latin typeface="Roboto" panose="02000000000000000000" pitchFamily="2" charset="0"/>
                <a:ea typeface="Roboto" panose="02000000000000000000" pitchFamily="2" charset="0"/>
                <a:cs typeface="Roboto" panose="02000000000000000000" pitchFamily="2" charset="0"/>
              </a:rPr>
              <a:t>es_offline</a:t>
            </a:r>
            <a:r>
              <a:rPr lang="es-MX" sz="1600" dirty="0">
                <a:latin typeface="Roboto" panose="02000000000000000000" pitchFamily="2" charset="0"/>
                <a:ea typeface="Roboto" panose="02000000000000000000" pitchFamily="2" charset="0"/>
                <a:cs typeface="Roboto" panose="02000000000000000000" pitchFamily="2" charset="0"/>
              </a:rPr>
              <a:t>) y doble validación de tiempo (</a:t>
            </a:r>
            <a:r>
              <a:rPr lang="es-MX" sz="1600" dirty="0" err="1">
                <a:latin typeface="Roboto" panose="02000000000000000000" pitchFamily="2" charset="0"/>
                <a:ea typeface="Roboto" panose="02000000000000000000" pitchFamily="2" charset="0"/>
                <a:cs typeface="Roboto" panose="02000000000000000000" pitchFamily="2" charset="0"/>
              </a:rPr>
              <a:t>fecha_local</a:t>
            </a:r>
            <a:r>
              <a:rPr lang="es-MX" sz="1600" dirty="0">
                <a:latin typeface="Roboto" panose="02000000000000000000" pitchFamily="2" charset="0"/>
                <a:ea typeface="Roboto" panose="02000000000000000000" pitchFamily="2" charset="0"/>
                <a:cs typeface="Roboto" panose="02000000000000000000" pitchFamily="2" charset="0"/>
              </a:rPr>
              <a:t> vs </a:t>
            </a:r>
            <a:r>
              <a:rPr lang="es-MX" sz="1600" dirty="0" err="1">
                <a:latin typeface="Roboto" panose="02000000000000000000" pitchFamily="2" charset="0"/>
                <a:ea typeface="Roboto" panose="02000000000000000000" pitchFamily="2" charset="0"/>
                <a:cs typeface="Roboto" panose="02000000000000000000" pitchFamily="2" charset="0"/>
              </a:rPr>
              <a:t>synced_at</a:t>
            </a:r>
            <a:r>
              <a:rPr lang="es-MX" sz="1600" dirty="0">
                <a:latin typeface="Roboto" panose="02000000000000000000" pitchFamily="2" charset="0"/>
                <a:ea typeface="Roboto" panose="02000000000000000000" pitchFamily="2" charset="0"/>
                <a:cs typeface="Roboto" panose="02000000000000000000" pitchFamily="2" charset="0"/>
              </a:rPr>
              <a:t>), lo que nos permite resolver conflictos de sincronización cuando el local pierde conexión a internet sin alterar la auditoría de los pagos</a:t>
            </a:r>
            <a:endParaRPr lang="es-CL" sz="1600" dirty="0">
              <a:latin typeface="Roboto" panose="02000000000000000000" pitchFamily="2" charset="0"/>
              <a:ea typeface="Roboto" panose="02000000000000000000" pitchFamily="2" charset="0"/>
              <a:cs typeface="Roboto" panose="02000000000000000000" pitchFamily="2" charset="0"/>
            </a:endParaRPr>
          </a:p>
        </p:txBody>
      </p:sp>
      <p:pic>
        <p:nvPicPr>
          <p:cNvPr id="11" name="Imagen 10">
            <a:extLst>
              <a:ext uri="{FF2B5EF4-FFF2-40B4-BE49-F238E27FC236}">
                <a16:creationId xmlns:a16="http://schemas.microsoft.com/office/drawing/2014/main" id="{B2CC8BDB-254B-E263-91DC-B0991AC86F39}"/>
              </a:ext>
            </a:extLst>
          </p:cNvPr>
          <p:cNvPicPr>
            <a:picLocks noChangeAspect="1"/>
          </p:cNvPicPr>
          <p:nvPr/>
        </p:nvPicPr>
        <p:blipFill>
          <a:blip r:embed="rId2"/>
          <a:stretch>
            <a:fillRect/>
          </a:stretch>
        </p:blipFill>
        <p:spPr>
          <a:xfrm>
            <a:off x="3087167" y="3108013"/>
            <a:ext cx="5151764" cy="3603014"/>
          </a:xfrm>
          <a:prstGeom prst="rect">
            <a:avLst/>
          </a:prstGeom>
        </p:spPr>
      </p:pic>
      <p:pic>
        <p:nvPicPr>
          <p:cNvPr id="13" name="Imagen 12">
            <a:extLst>
              <a:ext uri="{FF2B5EF4-FFF2-40B4-BE49-F238E27FC236}">
                <a16:creationId xmlns:a16="http://schemas.microsoft.com/office/drawing/2014/main" id="{B779BAD8-15C7-5618-AB13-C0296D0E2AAE}"/>
              </a:ext>
            </a:extLst>
          </p:cNvPr>
          <p:cNvPicPr>
            <a:picLocks noChangeAspect="1"/>
          </p:cNvPicPr>
          <p:nvPr/>
        </p:nvPicPr>
        <p:blipFill>
          <a:blip r:embed="rId3"/>
          <a:stretch>
            <a:fillRect/>
          </a:stretch>
        </p:blipFill>
        <p:spPr>
          <a:xfrm>
            <a:off x="11087004" y="6558620"/>
            <a:ext cx="1104996" cy="266723"/>
          </a:xfrm>
          <a:prstGeom prst="rect">
            <a:avLst/>
          </a:prstGeom>
        </p:spPr>
      </p:pic>
    </p:spTree>
    <p:extLst>
      <p:ext uri="{BB962C8B-B14F-4D97-AF65-F5344CB8AC3E}">
        <p14:creationId xmlns:p14="http://schemas.microsoft.com/office/powerpoint/2010/main" val="3074983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1332905"/>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Requisitos Funcionales del Sistema</a:t>
            </a:r>
            <a:endParaRPr lang="en-US" sz="32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180332"/>
            <a:ext cx="413434" cy="413445"/>
          </a:xfrm>
          <a:prstGeom prst="rect">
            <a:avLst/>
          </a:prstGeom>
        </p:spPr>
      </p:pic>
      <p:sp>
        <p:nvSpPr>
          <p:cNvPr id="4" name="Text 1"/>
          <p:cNvSpPr/>
          <p:nvPr/>
        </p:nvSpPr>
        <p:spPr>
          <a:xfrm>
            <a:off x="661475" y="2800449"/>
            <a:ext cx="5330989"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RF01 (Autenticación NFC)</a:t>
            </a:r>
            <a:endParaRPr lang="en-US" sz="1600" dirty="0"/>
          </a:p>
        </p:txBody>
      </p:sp>
      <p:sp>
        <p:nvSpPr>
          <p:cNvPr id="5" name="Text 2"/>
          <p:cNvSpPr/>
          <p:nvPr/>
        </p:nvSpPr>
        <p:spPr>
          <a:xfrm>
            <a:off x="661475" y="3158133"/>
            <a:ext cx="533098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sistema debe identificar al cliente leyendo el UID único de su tarjeta NFC</a:t>
            </a:r>
            <a:endParaRPr lang="en-US" sz="130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99132" y="2180332"/>
            <a:ext cx="413434" cy="413445"/>
          </a:xfrm>
          <a:prstGeom prst="rect">
            <a:avLst/>
          </a:prstGeom>
        </p:spPr>
      </p:pic>
      <p:sp>
        <p:nvSpPr>
          <p:cNvPr id="7" name="Text 3"/>
          <p:cNvSpPr/>
          <p:nvPr/>
        </p:nvSpPr>
        <p:spPr>
          <a:xfrm>
            <a:off x="6199132" y="2800449"/>
            <a:ext cx="5331089"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RF02 (Registro de Fiado/Abono)</a:t>
            </a:r>
            <a:endParaRPr lang="en-US" sz="1600" dirty="0"/>
          </a:p>
        </p:txBody>
      </p:sp>
      <p:sp>
        <p:nvSpPr>
          <p:cNvPr id="8" name="Text 4"/>
          <p:cNvSpPr/>
          <p:nvPr/>
        </p:nvSpPr>
        <p:spPr>
          <a:xfrm>
            <a:off x="6199132" y="3158133"/>
            <a:ext cx="533108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sistema debe permitir ingresar un monto numérico positivo (abono) o negativo (fiado) asociado a la cuenta escaneada</a:t>
            </a:r>
            <a:endParaRPr lang="en-US" sz="130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018062"/>
            <a:ext cx="413434" cy="413445"/>
          </a:xfrm>
          <a:prstGeom prst="rect">
            <a:avLst/>
          </a:prstGeom>
        </p:spPr>
      </p:pic>
      <p:sp>
        <p:nvSpPr>
          <p:cNvPr id="10" name="Text 5"/>
          <p:cNvSpPr/>
          <p:nvPr/>
        </p:nvSpPr>
        <p:spPr>
          <a:xfrm>
            <a:off x="661475" y="4638179"/>
            <a:ext cx="5330989"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RF03 (Cálculo Automático)</a:t>
            </a:r>
            <a:endParaRPr lang="en-US" sz="1600" dirty="0"/>
          </a:p>
        </p:txBody>
      </p:sp>
      <p:sp>
        <p:nvSpPr>
          <p:cNvPr id="11" name="Text 6"/>
          <p:cNvSpPr/>
          <p:nvPr/>
        </p:nvSpPr>
        <p:spPr>
          <a:xfrm>
            <a:off x="661475" y="4995863"/>
            <a:ext cx="533098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sistema debe sumar o restar automáticamente el monto ingresado al saldo total del cliente</a:t>
            </a:r>
            <a:endParaRPr lang="en-US" sz="130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99132" y="4018062"/>
            <a:ext cx="413434" cy="413445"/>
          </a:xfrm>
          <a:prstGeom prst="rect">
            <a:avLst/>
          </a:prstGeom>
        </p:spPr>
      </p:pic>
      <p:sp>
        <p:nvSpPr>
          <p:cNvPr id="13" name="Text 7"/>
          <p:cNvSpPr/>
          <p:nvPr/>
        </p:nvSpPr>
        <p:spPr>
          <a:xfrm>
            <a:off x="6199132" y="4638179"/>
            <a:ext cx="5331089"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RF04 (Estado de Cuenta Web)</a:t>
            </a:r>
            <a:endParaRPr lang="en-US" sz="1600" dirty="0"/>
          </a:p>
        </p:txBody>
      </p:sp>
      <p:sp>
        <p:nvSpPr>
          <p:cNvPr id="14" name="Text 8"/>
          <p:cNvSpPr/>
          <p:nvPr/>
        </p:nvSpPr>
        <p:spPr>
          <a:xfrm>
            <a:off x="6199132" y="4995863"/>
            <a:ext cx="533108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sistema debe generar un enlace de solo lectura para que el cliente consulte su deuda al escanear su propio chip NFC</a:t>
            </a:r>
            <a:endParaRPr lang="en-US" sz="1300" dirty="0"/>
          </a:p>
        </p:txBody>
      </p:sp>
      <p:pic>
        <p:nvPicPr>
          <p:cNvPr id="16" name="Imagen 15">
            <a:extLst>
              <a:ext uri="{FF2B5EF4-FFF2-40B4-BE49-F238E27FC236}">
                <a16:creationId xmlns:a16="http://schemas.microsoft.com/office/drawing/2014/main" id="{0F35E8DA-F72F-A290-43E3-2E2BA27EF653}"/>
              </a:ext>
            </a:extLst>
          </p:cNvPr>
          <p:cNvPicPr>
            <a:picLocks noChangeAspect="1"/>
          </p:cNvPicPr>
          <p:nvPr/>
        </p:nvPicPr>
        <p:blipFill>
          <a:blip r:embed="rId11"/>
          <a:stretch>
            <a:fillRect/>
          </a:stretch>
        </p:blipFill>
        <p:spPr>
          <a:xfrm>
            <a:off x="11087004" y="6591277"/>
            <a:ext cx="1104996" cy="26672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569541"/>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1B1B27"/>
                </a:solidFill>
                <a:latin typeface="Raleway" pitchFamily="34" charset="0"/>
                <a:ea typeface="Raleway" pitchFamily="34" charset="-122"/>
                <a:cs typeface="Raleway" pitchFamily="34" charset="-120"/>
              </a:rPr>
              <a:t>Requisitos No Funcionales del Sistema</a:t>
            </a:r>
            <a:endParaRPr lang="en-US" sz="3250" dirty="0"/>
          </a:p>
        </p:txBody>
      </p:sp>
      <p:sp>
        <p:nvSpPr>
          <p:cNvPr id="3" name="Text 1"/>
          <p:cNvSpPr/>
          <p:nvPr/>
        </p:nvSpPr>
        <p:spPr>
          <a:xfrm>
            <a:off x="661475" y="2416969"/>
            <a:ext cx="1086874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Estos requisitos son fundamentales para asegurar la robustez, eficiencia y confiabilidad del sistema, impactando directamente la experiencia del usuario y la integridad de los datos.</a:t>
            </a:r>
            <a:endParaRPr lang="en-US" sz="1300" dirty="0"/>
          </a:p>
        </p:txBody>
      </p:sp>
      <p:sp>
        <p:nvSpPr>
          <p:cNvPr id="4" name="Shape 2"/>
          <p:cNvSpPr/>
          <p:nvPr/>
        </p:nvSpPr>
        <p:spPr>
          <a:xfrm>
            <a:off x="661475" y="3132237"/>
            <a:ext cx="3512653" cy="2156222"/>
          </a:xfrm>
          <a:prstGeom prst="roundRect">
            <a:avLst>
              <a:gd name="adj" fmla="val 3222"/>
            </a:avLst>
          </a:prstGeom>
          <a:solidFill>
            <a:srgbClr val="E1E1EA"/>
          </a:solidFill>
          <a:ln w="6350">
            <a:solidFill>
              <a:srgbClr val="C7C7D0"/>
            </a:solidFill>
            <a:prstDash val="solid"/>
          </a:ln>
        </p:spPr>
      </p:sp>
      <p:sp>
        <p:nvSpPr>
          <p:cNvPr id="5" name="Shape 3"/>
          <p:cNvSpPr/>
          <p:nvPr/>
        </p:nvSpPr>
        <p:spPr>
          <a:xfrm>
            <a:off x="833119" y="3303885"/>
            <a:ext cx="496081" cy="496094"/>
          </a:xfrm>
          <a:prstGeom prst="ellipse">
            <a:avLst/>
          </a:prstGeom>
          <a:solidFill>
            <a:srgbClr val="1B1B27"/>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541" y="3440212"/>
            <a:ext cx="223237" cy="223242"/>
          </a:xfrm>
          <a:prstGeom prst="rect">
            <a:avLst/>
          </a:prstGeom>
        </p:spPr>
      </p:pic>
      <p:sp>
        <p:nvSpPr>
          <p:cNvPr id="7" name="Text 4"/>
          <p:cNvSpPr/>
          <p:nvPr/>
        </p:nvSpPr>
        <p:spPr>
          <a:xfrm>
            <a:off x="833119" y="3965277"/>
            <a:ext cx="316936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RNF01 (Offline-First)</a:t>
            </a:r>
            <a:endParaRPr lang="en-US" sz="1600" dirty="0"/>
          </a:p>
        </p:txBody>
      </p:sp>
      <p:sp>
        <p:nvSpPr>
          <p:cNvPr id="8" name="Text 5"/>
          <p:cNvSpPr/>
          <p:nvPr/>
        </p:nvSpPr>
        <p:spPr>
          <a:xfrm>
            <a:off x="833119" y="4322961"/>
            <a:ext cx="316936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La aplicación móvil debe permitir registrar transacciones sin conexión a internet y encolarlas localmente</a:t>
            </a:r>
            <a:endParaRPr lang="en-US" sz="1300" dirty="0"/>
          </a:p>
        </p:txBody>
      </p:sp>
      <p:sp>
        <p:nvSpPr>
          <p:cNvPr id="9" name="Shape 6"/>
          <p:cNvSpPr/>
          <p:nvPr/>
        </p:nvSpPr>
        <p:spPr>
          <a:xfrm>
            <a:off x="4339422" y="3132237"/>
            <a:ext cx="3512752" cy="2156222"/>
          </a:xfrm>
          <a:prstGeom prst="roundRect">
            <a:avLst>
              <a:gd name="adj" fmla="val 3222"/>
            </a:avLst>
          </a:prstGeom>
          <a:solidFill>
            <a:srgbClr val="E1E1EA"/>
          </a:solidFill>
          <a:ln w="6350">
            <a:solidFill>
              <a:srgbClr val="C7C7D0"/>
            </a:solidFill>
            <a:prstDash val="solid"/>
          </a:ln>
        </p:spPr>
      </p:sp>
      <p:sp>
        <p:nvSpPr>
          <p:cNvPr id="10" name="Shape 7"/>
          <p:cNvSpPr/>
          <p:nvPr/>
        </p:nvSpPr>
        <p:spPr>
          <a:xfrm>
            <a:off x="4511066" y="3303885"/>
            <a:ext cx="496081" cy="496094"/>
          </a:xfrm>
          <a:prstGeom prst="ellipse">
            <a:avLst/>
          </a:prstGeom>
          <a:solidFill>
            <a:srgbClr val="1B1B27"/>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47488" y="3440212"/>
            <a:ext cx="223237" cy="223242"/>
          </a:xfrm>
          <a:prstGeom prst="rect">
            <a:avLst/>
          </a:prstGeom>
        </p:spPr>
      </p:pic>
      <p:sp>
        <p:nvSpPr>
          <p:cNvPr id="12" name="Text 8"/>
          <p:cNvSpPr/>
          <p:nvPr/>
        </p:nvSpPr>
        <p:spPr>
          <a:xfrm>
            <a:off x="4511066" y="3965277"/>
            <a:ext cx="316946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RNF02 (Rendimiento NFC)</a:t>
            </a:r>
            <a:endParaRPr lang="en-US" sz="1600" dirty="0"/>
          </a:p>
        </p:txBody>
      </p:sp>
      <p:sp>
        <p:nvSpPr>
          <p:cNvPr id="13" name="Text 9"/>
          <p:cNvSpPr/>
          <p:nvPr/>
        </p:nvSpPr>
        <p:spPr>
          <a:xfrm>
            <a:off x="4511066" y="4322961"/>
            <a:ext cx="316946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El reconocimiento del chip NFC y apertura del perfil no debe tardar más de 2 segundos</a:t>
            </a:r>
            <a:endParaRPr lang="en-US" sz="1300" dirty="0"/>
          </a:p>
        </p:txBody>
      </p:sp>
      <p:sp>
        <p:nvSpPr>
          <p:cNvPr id="14" name="Shape 10"/>
          <p:cNvSpPr/>
          <p:nvPr/>
        </p:nvSpPr>
        <p:spPr>
          <a:xfrm>
            <a:off x="8017468" y="3132237"/>
            <a:ext cx="3512653" cy="2156222"/>
          </a:xfrm>
          <a:prstGeom prst="roundRect">
            <a:avLst>
              <a:gd name="adj" fmla="val 3222"/>
            </a:avLst>
          </a:prstGeom>
          <a:solidFill>
            <a:srgbClr val="E1E1EA"/>
          </a:solidFill>
          <a:ln w="6350">
            <a:solidFill>
              <a:srgbClr val="C7C7D0"/>
            </a:solidFill>
            <a:prstDash val="solid"/>
          </a:ln>
        </p:spPr>
      </p:sp>
      <p:sp>
        <p:nvSpPr>
          <p:cNvPr id="15" name="Shape 11"/>
          <p:cNvSpPr/>
          <p:nvPr/>
        </p:nvSpPr>
        <p:spPr>
          <a:xfrm>
            <a:off x="8189112" y="3303885"/>
            <a:ext cx="496081" cy="496094"/>
          </a:xfrm>
          <a:prstGeom prst="ellipse">
            <a:avLst/>
          </a:prstGeom>
          <a:solidFill>
            <a:srgbClr val="1B1B27"/>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25535" y="3440212"/>
            <a:ext cx="223237" cy="223242"/>
          </a:xfrm>
          <a:prstGeom prst="rect">
            <a:avLst/>
          </a:prstGeom>
        </p:spPr>
      </p:pic>
      <p:sp>
        <p:nvSpPr>
          <p:cNvPr id="17" name="Text 12"/>
          <p:cNvSpPr/>
          <p:nvPr/>
        </p:nvSpPr>
        <p:spPr>
          <a:xfrm>
            <a:off x="8189112" y="3965277"/>
            <a:ext cx="3169364" cy="258465"/>
          </a:xfrm>
          <a:prstGeom prst="rect">
            <a:avLst/>
          </a:prstGeom>
          <a:noFill/>
          <a:ln/>
        </p:spPr>
        <p:txBody>
          <a:bodyPr wrap="none" lIns="0" tIns="0" rIns="0" bIns="0" rtlCol="0" anchor="t"/>
          <a:lstStyle/>
          <a:p>
            <a:pPr marL="0" indent="0" algn="l">
              <a:lnSpc>
                <a:spcPct val="104000"/>
              </a:lnSpc>
              <a:buNone/>
            </a:pPr>
            <a:r>
              <a:rPr lang="en-US" sz="1600" dirty="0">
                <a:solidFill>
                  <a:srgbClr val="3C3939"/>
                </a:solidFill>
                <a:latin typeface="Raleway" pitchFamily="34" charset="0"/>
                <a:ea typeface="Raleway" pitchFamily="34" charset="-122"/>
                <a:cs typeface="Raleway" pitchFamily="34" charset="-120"/>
              </a:rPr>
              <a:t>RNF03 (Seguridad)</a:t>
            </a:r>
            <a:endParaRPr lang="en-US" sz="1600" dirty="0"/>
          </a:p>
        </p:txBody>
      </p:sp>
      <p:sp>
        <p:nvSpPr>
          <p:cNvPr id="18" name="Text 13"/>
          <p:cNvSpPr/>
          <p:nvPr/>
        </p:nvSpPr>
        <p:spPr>
          <a:xfrm>
            <a:off x="8189112" y="4322961"/>
            <a:ext cx="316936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3C3939"/>
                </a:solidFill>
                <a:latin typeface="Roboto" pitchFamily="34" charset="0"/>
                <a:ea typeface="Roboto" pitchFamily="34" charset="-122"/>
                <a:cs typeface="Roboto" pitchFamily="34" charset="-120"/>
              </a:rPr>
              <a:t>La información financiera almacenada localmente en modo offline debe estar cifrada</a:t>
            </a:r>
            <a:endParaRPr lang="en-US" sz="1300" dirty="0"/>
          </a:p>
        </p:txBody>
      </p:sp>
      <p:pic>
        <p:nvPicPr>
          <p:cNvPr id="20" name="Imagen 19">
            <a:extLst>
              <a:ext uri="{FF2B5EF4-FFF2-40B4-BE49-F238E27FC236}">
                <a16:creationId xmlns:a16="http://schemas.microsoft.com/office/drawing/2014/main" id="{7714DD32-83BC-5E30-7D17-F315BE139987}"/>
              </a:ext>
            </a:extLst>
          </p:cNvPr>
          <p:cNvPicPr>
            <a:picLocks noChangeAspect="1"/>
          </p:cNvPicPr>
          <p:nvPr/>
        </p:nvPicPr>
        <p:blipFill>
          <a:blip r:embed="rId9"/>
          <a:stretch>
            <a:fillRect/>
          </a:stretch>
        </p:blipFill>
        <p:spPr>
          <a:xfrm>
            <a:off x="11087004" y="6591277"/>
            <a:ext cx="1104996" cy="26672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4A7D2E8-4B69-CF66-F003-09FB38EA803C}"/>
              </a:ext>
            </a:extLst>
          </p:cNvPr>
          <p:cNvSpPr txBox="1"/>
          <p:nvPr/>
        </p:nvSpPr>
        <p:spPr>
          <a:xfrm>
            <a:off x="634481" y="595049"/>
            <a:ext cx="8362561" cy="582660"/>
          </a:xfrm>
          <a:prstGeom prst="rect">
            <a:avLst/>
          </a:prstGeom>
          <a:noFill/>
        </p:spPr>
        <p:txBody>
          <a:bodyPr wrap="square">
            <a:spAutoFit/>
          </a:bodyPr>
          <a:lstStyle/>
          <a:p>
            <a:pPr marL="0" indent="0" algn="l">
              <a:lnSpc>
                <a:spcPct val="104000"/>
              </a:lnSpc>
              <a:buNone/>
            </a:pPr>
            <a:r>
              <a:rPr lang="en-US" sz="3200" dirty="0">
                <a:solidFill>
                  <a:srgbClr val="1B1B27"/>
                </a:solidFill>
                <a:latin typeface="Raleway" pitchFamily="34" charset="0"/>
              </a:rPr>
              <a:t>Interfaces del Sistema</a:t>
            </a:r>
            <a:endParaRPr lang="en-US" sz="3200" dirty="0"/>
          </a:p>
        </p:txBody>
      </p:sp>
      <p:sp>
        <p:nvSpPr>
          <p:cNvPr id="5" name="CuadroTexto 4">
            <a:extLst>
              <a:ext uri="{FF2B5EF4-FFF2-40B4-BE49-F238E27FC236}">
                <a16:creationId xmlns:a16="http://schemas.microsoft.com/office/drawing/2014/main" id="{9EA6E495-6F3D-90C8-0F28-182B9CD0BA74}"/>
              </a:ext>
            </a:extLst>
          </p:cNvPr>
          <p:cNvSpPr txBox="1"/>
          <p:nvPr/>
        </p:nvSpPr>
        <p:spPr>
          <a:xfrm>
            <a:off x="634481" y="1690612"/>
            <a:ext cx="10506270" cy="1528432"/>
          </a:xfrm>
          <a:prstGeom prst="rect">
            <a:avLst/>
          </a:prstGeom>
          <a:noFill/>
        </p:spPr>
        <p:txBody>
          <a:bodyPr wrap="square">
            <a:spAutoFit/>
          </a:bodyPr>
          <a:lstStyle/>
          <a:p>
            <a:pPr marL="0" indent="0" algn="l">
              <a:lnSpc>
                <a:spcPct val="126000"/>
              </a:lnSpc>
              <a:buNone/>
            </a:pPr>
            <a:r>
              <a:rPr lang="es-MX" sz="1600" dirty="0">
                <a:solidFill>
                  <a:srgbClr val="3C3939"/>
                </a:solidFill>
                <a:latin typeface="Roboto" panose="02000000000000000000" pitchFamily="2" charset="0"/>
                <a:ea typeface="Roboto" panose="02000000000000000000" pitchFamily="2" charset="0"/>
                <a:cs typeface="Roboto" panose="02000000000000000000" pitchFamily="2" charset="0"/>
              </a:rPr>
              <a:t>El flujo comienza con la App del Vendedor (Inicio), destacando un llamado a la acción central para la lectura del chip NFC. Una vez escaneado, el sistema despliega instantáneamente el Perfil del Cliente. Adicionalmente, se incluye la vista del Portal Cliente (interfaz web de solo lectura) y un Panel Dueño para categorizar estadísticamente la cartera de clientes.</a:t>
            </a:r>
          </a:p>
          <a:p>
            <a:pPr marL="0" indent="0" algn="l">
              <a:lnSpc>
                <a:spcPct val="126000"/>
              </a:lnSpc>
              <a:buNone/>
            </a:pPr>
            <a:endParaRPr lang="es-MX" sz="1100" dirty="0">
              <a:solidFill>
                <a:srgbClr val="3C3939"/>
              </a:solidFill>
              <a:latin typeface="Roboto" panose="02000000000000000000" pitchFamily="2" charset="0"/>
              <a:ea typeface="Roboto" panose="02000000000000000000" pitchFamily="2" charset="0"/>
              <a:cs typeface="Roboto" panose="02000000000000000000" pitchFamily="2" charset="0"/>
            </a:endParaRPr>
          </a:p>
        </p:txBody>
      </p:sp>
      <p:pic>
        <p:nvPicPr>
          <p:cNvPr id="7" name="Imagen 6">
            <a:extLst>
              <a:ext uri="{FF2B5EF4-FFF2-40B4-BE49-F238E27FC236}">
                <a16:creationId xmlns:a16="http://schemas.microsoft.com/office/drawing/2014/main" id="{3F734B09-EDCE-0E5E-2BD2-1C7B3982D3F7}"/>
              </a:ext>
            </a:extLst>
          </p:cNvPr>
          <p:cNvPicPr>
            <a:picLocks noChangeAspect="1"/>
          </p:cNvPicPr>
          <p:nvPr/>
        </p:nvPicPr>
        <p:blipFill>
          <a:blip r:embed="rId2"/>
          <a:stretch>
            <a:fillRect/>
          </a:stretch>
        </p:blipFill>
        <p:spPr>
          <a:xfrm>
            <a:off x="1951751" y="3212564"/>
            <a:ext cx="7539750" cy="3043907"/>
          </a:xfrm>
          <a:prstGeom prst="rect">
            <a:avLst/>
          </a:prstGeom>
        </p:spPr>
      </p:pic>
      <p:pic>
        <p:nvPicPr>
          <p:cNvPr id="9" name="Imagen 8">
            <a:extLst>
              <a:ext uri="{FF2B5EF4-FFF2-40B4-BE49-F238E27FC236}">
                <a16:creationId xmlns:a16="http://schemas.microsoft.com/office/drawing/2014/main" id="{BFA6D0D8-543C-1A66-ECE5-90BAFC6115E4}"/>
              </a:ext>
            </a:extLst>
          </p:cNvPr>
          <p:cNvPicPr>
            <a:picLocks noChangeAspect="1"/>
          </p:cNvPicPr>
          <p:nvPr/>
        </p:nvPicPr>
        <p:blipFill>
          <a:blip r:embed="rId3"/>
          <a:stretch>
            <a:fillRect/>
          </a:stretch>
        </p:blipFill>
        <p:spPr>
          <a:xfrm>
            <a:off x="11087004" y="6549289"/>
            <a:ext cx="1104996" cy="266723"/>
          </a:xfrm>
          <a:prstGeom prst="rect">
            <a:avLst/>
          </a:prstGeom>
        </p:spPr>
      </p:pic>
    </p:spTree>
    <p:extLst>
      <p:ext uri="{BB962C8B-B14F-4D97-AF65-F5344CB8AC3E}">
        <p14:creationId xmlns:p14="http://schemas.microsoft.com/office/powerpoint/2010/main" val="32748811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TotalTime>
  <Words>1832</Words>
  <Application>Microsoft Office PowerPoint</Application>
  <PresentationFormat>Panorámica</PresentationFormat>
  <Paragraphs>168</Paragraphs>
  <Slides>16</Slides>
  <Notes>13</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16</vt:i4>
      </vt:variant>
    </vt:vector>
  </HeadingPairs>
  <TitlesOfParts>
    <vt:vector size="23" baseType="lpstr">
      <vt:lpstr>Roboto Bold</vt:lpstr>
      <vt:lpstr>Calibri</vt:lpstr>
      <vt:lpstr>Roboto</vt:lpstr>
      <vt:lpstr>Raleway</vt:lpstr>
      <vt:lpstr>Raleway Light</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Bastián</dc:creator>
  <cp:lastModifiedBy>Bastián Bustamante Ruiz</cp:lastModifiedBy>
  <cp:revision>2</cp:revision>
  <dcterms:created xsi:type="dcterms:W3CDTF">2026-08-31T18:33:16Z</dcterms:created>
  <dcterms:modified xsi:type="dcterms:W3CDTF">2026-08-31T21:05:29Z</dcterms:modified>
</cp:coreProperties>
</file>